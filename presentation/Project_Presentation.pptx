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One sentence: an AI assistant that helps security analysts investigate, classify, prioritise and respond to network incidents, built on CIC-IDS2017 and running locally.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[0:20–0:55] SOC teams see many alert types. Each alert needs the same four answers, and finding them by hand across millions of flow records is slow and inconsistent, so urgent incidents can wait.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[0:55–1:35] Walk the flow: the question is safety-checked, the supervisor picks the agents, the agents call real models and search, and the answer comes back checked and cited. Then the six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[1:35–2:25] Top row runs once: the dataset is cleaned with PySpark, each flow becomes an incident text, and it is embedded into ChromaDB alongside a BM25 index. Bottom row runs per question: the Streamlit UI calls only the FastAPI backend, which runs the LangGraph agents; the agents call the ML service, prioritiser and hybrid retrieval. The LLM is one .env setting. SQLite keeps accounts, saved chats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[2:25–3:05] Five days of real lab traffic, 2.8 million flows, 15 labels. After cleaning and de-duplication 2.24 million remain; a stratified sample of 97,549 becomes the searchable incident library, and the models use 24 flow metrics. This release has no IP, protocol or timestamp.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[3:05–3:30] Python throughout. The LLM is gpt-oss-20b on NVIDIA NIM and can be switched to Gemini or Claude in .env. Everything else runs locally.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[3:30–4:15] Keyword search catches exact names and ports, semantic search catches similar behaviour; Reciprocal Rank Fusion combines both rankings. Hard filters then keep only the right attack type, port or numeric range. Hybrid had the best hit rate on 12 labelled queries.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[4:15–5:00] Three models read the same 24 metrics; partial input is filled with normal values and flagged. The prioritiser combines risk, attack severity and anomaly into P1–P4 with safety rules. SHAP explains every prediction. Scores at the bottom are on held-out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[5:00–6:00] The input guard checks the question; the supervisor picks one of seven routes. An investigation runs in two parallel stages: Classification with Risk &amp; Priority, then Incident Search with Response. The final answer is written from all findings and checked again. A question for a single agent gets that agent's reply directly. Missing key metrics trigger a follow-up question instead of a guess.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[6:00–6:50] Rule-based guards sit before and after the LLM. The judge grades every answer on five criteria, with rules that cap scores when facts are wrong. Analysts rate answers and correct attack types; corrections appear in later answers and can retrain the classifier, but the new model is kept only if macro-F1 does not drop.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[6:50–7:30] Sign up and log in from the Streamlit page. Passwords are hashed with scrypt; tokens are random, only their hash is stored, they expire after 7 days and logout revokes them. Each conversation belongs to one user and survives restarts through LangGraph's SqliteSaver.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[7:30–8:40] DeepEval on 24 labelled cases plus exact checks computed from the data. After making agents run in parallel and letting single agents answer directly, quality held or improved and answers got much faster. Retrieval, model and test numbers on the top 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[8:40–9:20] Challenges: missing fields in the dataset, free LLM limits, small-model quirks, partial input and latency. Learnings: wrap the LLM in deterministic checks, measure early, route instead of running everything, and keep the LLM a setting.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[9:20–9:45] The main next steps: a richer dataset release, a stronger evaluator, easier deployment and production-grade security.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[9:45–10:00] Thank the panel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828800"/>
            <a:ext cx="1005840" cy="82296"/>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57400"/>
            <a:ext cx="10515600" cy="1737360"/>
          </a:xfrm>
          <a:prstGeom prst="rect">
            <a:avLst/>
          </a:prstGeom>
          <a:noFill/>
        </p:spPr>
        <p:txBody>
          <a:bodyPr wrap="square" anchor="t" lIns="45720" rIns="45720" tIns="27432" bIns="27432">
            <a:spAutoFit/>
          </a:bodyPr>
          <a:lstStyle/>
          <a:p>
            <a:pPr algn="l">
              <a:spcAft>
                <a:spcPts val="0"/>
              </a:spcAft>
            </a:pPr>
            <a:r>
              <a:rPr sz="4400" b="1" i="0">
                <a:solidFill>
                  <a:srgbClr val="FFFFFF"/>
                </a:solidFill>
                <a:latin typeface="Segoe UI"/>
              </a:rPr>
              <a:t>AI-Powered Cybersecurity
Incident Response Assistant</a:t>
            </a:r>
          </a:p>
        </p:txBody>
      </p:sp>
      <p:sp>
        <p:nvSpPr>
          <p:cNvPr id="5" name="TextBox 4"/>
          <p:cNvSpPr txBox="1"/>
          <p:nvPr/>
        </p:nvSpPr>
        <p:spPr>
          <a:xfrm>
            <a:off x="822960" y="3794760"/>
            <a:ext cx="10058400" cy="822960"/>
          </a:xfrm>
          <a:prstGeom prst="rect">
            <a:avLst/>
          </a:prstGeom>
          <a:noFill/>
        </p:spPr>
        <p:txBody>
          <a:bodyPr wrap="square" anchor="t" lIns="45720" rIns="45720" tIns="27432" bIns="27432">
            <a:spAutoFit/>
          </a:bodyPr>
          <a:lstStyle/>
          <a:p>
            <a:pPr algn="l">
              <a:spcAft>
                <a:spcPts val="600"/>
              </a:spcAft>
            </a:pPr>
            <a:r>
              <a:rPr sz="1900" b="0" i="0">
                <a:solidFill>
                  <a:srgbClr val="CBD5E1"/>
                </a:solidFill>
                <a:latin typeface="Segoe UI"/>
              </a:rPr>
              <a:t>Investigate, classify, prioritise and respond to network security incidents with hybrid RAG, machine learning and a multi-agent LLM workflow</a:t>
            </a:r>
          </a:p>
        </p:txBody>
      </p:sp>
      <p:sp>
        <p:nvSpPr>
          <p:cNvPr id="6" name="TextBox 5"/>
          <p:cNvSpPr txBox="1"/>
          <p:nvPr/>
        </p:nvSpPr>
        <p:spPr>
          <a:xfrm>
            <a:off x="822960" y="5120640"/>
            <a:ext cx="10058400" cy="822960"/>
          </a:xfrm>
          <a:prstGeom prst="rect">
            <a:avLst/>
          </a:prstGeom>
          <a:noFill/>
        </p:spPr>
        <p:txBody>
          <a:bodyPr wrap="square" anchor="t" lIns="45720" rIns="45720" tIns="27432" bIns="27432">
            <a:spAutoFit/>
          </a:bodyPr>
          <a:lstStyle/>
          <a:p>
            <a:pPr algn="l">
              <a:spcAft>
                <a:spcPts val="600"/>
              </a:spcAft>
            </a:pPr>
            <a:r>
              <a:rPr sz="1500" b="1" i="0">
                <a:solidFill>
                  <a:srgbClr val="93C5FD"/>
                </a:solidFill>
                <a:latin typeface="Segoe UI"/>
              </a:rPr>
              <a:t>Capstone Project 8  ·  CIC-IDS2017</a:t>
            </a:r>
          </a:p>
          <a:p>
            <a:pPr algn="l">
              <a:spcAft>
                <a:spcPts val="600"/>
              </a:spcAft>
            </a:pPr>
            <a:r>
              <a:rPr sz="1500" b="0" i="0">
                <a:solidFill>
                  <a:srgbClr val="E5ECF6"/>
                </a:solidFill>
                <a:latin typeface="Segoe UI"/>
              </a:rPr>
              <a:t>Nalin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PROBLEM STATEMENT</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Analysts drown in network alerts</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2</a:t>
            </a:r>
          </a:p>
        </p:txBody>
      </p:sp>
      <p:sp>
        <p:nvSpPr>
          <p:cNvPr id="7" name="TextBox 6"/>
          <p:cNvSpPr txBox="1"/>
          <p:nvPr/>
        </p:nvSpPr>
        <p:spPr>
          <a:xfrm>
            <a:off x="548640" y="1600200"/>
            <a:ext cx="6035040" cy="4389120"/>
          </a:xfrm>
          <a:prstGeom prst="rect">
            <a:avLst/>
          </a:prstGeom>
          <a:noFill/>
        </p:spPr>
        <p:txBody>
          <a:bodyPr wrap="square" anchor="t" lIns="45720" rIns="45720" tIns="27432" bIns="27432">
            <a:spAutoFit/>
          </a:bodyPr>
          <a:lstStyle/>
          <a:p>
            <a:pPr algn="l">
              <a:spcAft>
                <a:spcPts val="1200"/>
              </a:spcAft>
            </a:pPr>
            <a:r>
              <a:rPr sz="1700" b="1" i="0">
                <a:solidFill>
                  <a:srgbClr val="2563EB"/>
                </a:solidFill>
                <a:latin typeface="Segoe UI"/>
              </a:rPr>
              <a:t>•  </a:t>
            </a:r>
            <a:r>
              <a:rPr sz="1700" b="0" i="0">
                <a:solidFill>
                  <a:srgbClr val="0F172A"/>
                </a:solidFill>
                <a:latin typeface="Segoe UI"/>
              </a:rPr>
              <a:t>Security teams monitor traffic for </a:t>
            </a:r>
            <a:r>
              <a:rPr sz="1700" b="1" i="0">
                <a:solidFill>
                  <a:srgbClr val="0F172A"/>
                </a:solidFill>
                <a:latin typeface="Segoe UI"/>
              </a:rPr>
              <a:t>brute force, DoS / DDoS, web attacks, botnets, infiltration and port scans</a:t>
            </a:r>
          </a:p>
          <a:p>
            <a:pPr algn="l">
              <a:spcAft>
                <a:spcPts val="1200"/>
              </a:spcAft>
            </a:pPr>
            <a:r>
              <a:rPr sz="1700" b="1" i="0">
                <a:solidFill>
                  <a:srgbClr val="2563EB"/>
                </a:solidFill>
                <a:latin typeface="Segoe UI"/>
              </a:rPr>
              <a:t>•  </a:t>
            </a:r>
            <a:r>
              <a:rPr sz="1700" b="0" i="0">
                <a:solidFill>
                  <a:srgbClr val="0F172A"/>
                </a:solidFill>
                <a:latin typeface="Segoe UI"/>
              </a:rPr>
              <a:t>Every alert needs the same four answers (right)</a:t>
            </a:r>
          </a:p>
          <a:p>
            <a:pPr algn="l">
              <a:spcAft>
                <a:spcPts val="1200"/>
              </a:spcAft>
            </a:pPr>
            <a:r>
              <a:rPr sz="1700" b="1" i="0">
                <a:solidFill>
                  <a:srgbClr val="2563EB"/>
                </a:solidFill>
                <a:latin typeface="Segoe UI"/>
              </a:rPr>
              <a:t>•  </a:t>
            </a:r>
            <a:r>
              <a:rPr sz="1700" b="0" i="0">
                <a:solidFill>
                  <a:srgbClr val="0F172A"/>
                </a:solidFill>
                <a:latin typeface="Segoe UI"/>
              </a:rPr>
              <a:t>Finding them by hand across </a:t>
            </a:r>
            <a:r>
              <a:rPr sz="1700" b="1" i="0">
                <a:solidFill>
                  <a:srgbClr val="0F172A"/>
                </a:solidFill>
                <a:latin typeface="Segoe UI"/>
              </a:rPr>
              <a:t>millions of flow records</a:t>
            </a:r>
            <a:r>
              <a:rPr sz="1700" b="0" i="0">
                <a:solidFill>
                  <a:srgbClr val="0F172A"/>
                </a:solidFill>
                <a:latin typeface="Segoe UI"/>
              </a:rPr>
              <a:t> is slow and inconsistent</a:t>
            </a:r>
          </a:p>
          <a:p>
            <a:pPr algn="l">
              <a:spcAft>
                <a:spcPts val="1200"/>
              </a:spcAft>
            </a:pPr>
            <a:r>
              <a:rPr sz="1700" b="1" i="0">
                <a:solidFill>
                  <a:srgbClr val="2563EB"/>
                </a:solidFill>
                <a:latin typeface="Segoe UI"/>
              </a:rPr>
              <a:t>•  </a:t>
            </a:r>
            <a:r>
              <a:rPr sz="1700" b="0" i="0">
                <a:solidFill>
                  <a:srgbClr val="0F172A"/>
                </a:solidFill>
                <a:latin typeface="Segoe UI"/>
              </a:rPr>
              <a:t>Urgent incidents can </a:t>
            </a:r>
            <a:r>
              <a:rPr sz="1700" b="1" i="0">
                <a:solidFill>
                  <a:srgbClr val="0F172A"/>
                </a:solidFill>
                <a:latin typeface="Segoe UI"/>
              </a:rPr>
              <a:t>wait behind routine ones</a:t>
            </a:r>
          </a:p>
          <a:p>
            <a:pPr algn="l">
              <a:spcAft>
                <a:spcPts val="1200"/>
              </a:spcAft>
            </a:pPr>
            <a:r>
              <a:rPr sz="1700" b="1" i="0">
                <a:solidFill>
                  <a:srgbClr val="2563EB"/>
                </a:solidFill>
                <a:latin typeface="Segoe UI"/>
              </a:rPr>
              <a:t>•  </a:t>
            </a:r>
            <a:r>
              <a:rPr sz="1700" b="1" i="0">
                <a:solidFill>
                  <a:srgbClr val="0F172A"/>
                </a:solidFill>
                <a:latin typeface="Segoe UI"/>
              </a:rPr>
              <a:t>Goal:</a:t>
            </a:r>
            <a:r>
              <a:rPr sz="1700" b="0" i="0">
                <a:solidFill>
                  <a:srgbClr val="0F172A"/>
                </a:solidFill>
                <a:latin typeface="Segoe UI"/>
              </a:rPr>
              <a:t> cut the time from alert to decision, with answers analysts can trust</a:t>
            </a:r>
          </a:p>
        </p:txBody>
      </p:sp>
      <p:sp>
        <p:nvSpPr>
          <p:cNvPr id="8" name="Rounded Rectangle 7"/>
          <p:cNvSpPr/>
          <p:nvPr/>
        </p:nvSpPr>
        <p:spPr>
          <a:xfrm>
            <a:off x="6949440" y="1600200"/>
            <a:ext cx="2286000" cy="141732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627632"/>
            <a:ext cx="2194560" cy="1362456"/>
          </a:xfrm>
          <a:prstGeom prst="rect">
            <a:avLst/>
          </a:prstGeom>
          <a:noFill/>
        </p:spPr>
        <p:txBody>
          <a:bodyPr wrap="square" anchor="ctr" lIns="45720" rIns="45720" tIns="27432" bIns="27432">
            <a:spAutoFit/>
          </a:bodyPr>
          <a:lstStyle/>
          <a:p>
            <a:pPr algn="ctr">
              <a:spcAft>
                <a:spcPts val="200"/>
              </a:spcAft>
            </a:pPr>
            <a:r>
              <a:rPr sz="1600" b="1" i="0">
                <a:solidFill>
                  <a:srgbClr val="0F172A"/>
                </a:solidFill>
                <a:latin typeface="Segoe UI"/>
              </a:rPr>
              <a:t>What attack is it?</a:t>
            </a:r>
          </a:p>
          <a:p>
            <a:pPr algn="ctr">
              <a:spcAft>
                <a:spcPts val="0"/>
              </a:spcAft>
            </a:pPr>
            <a:r>
              <a:rPr sz="1250" b="0" i="0">
                <a:solidFill>
                  <a:srgbClr val="475569"/>
                </a:solidFill>
                <a:latin typeface="Segoe UI"/>
              </a:rPr>
              <a:t>attack type and confidence</a:t>
            </a:r>
          </a:p>
        </p:txBody>
      </p:sp>
      <p:sp>
        <p:nvSpPr>
          <p:cNvPr id="10" name="Rounded Rectangle 9"/>
          <p:cNvSpPr/>
          <p:nvPr/>
        </p:nvSpPr>
        <p:spPr>
          <a:xfrm>
            <a:off x="9354312" y="1600200"/>
            <a:ext cx="2286000" cy="141732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00032" y="1627632"/>
            <a:ext cx="2194560" cy="1362456"/>
          </a:xfrm>
          <a:prstGeom prst="rect">
            <a:avLst/>
          </a:prstGeom>
          <a:noFill/>
        </p:spPr>
        <p:txBody>
          <a:bodyPr wrap="square" anchor="ctr" lIns="45720" rIns="45720" tIns="27432" bIns="27432">
            <a:spAutoFit/>
          </a:bodyPr>
          <a:lstStyle/>
          <a:p>
            <a:pPr algn="ctr">
              <a:spcAft>
                <a:spcPts val="200"/>
              </a:spcAft>
            </a:pPr>
            <a:r>
              <a:rPr sz="1600" b="1" i="0">
                <a:solidFill>
                  <a:srgbClr val="0F172A"/>
                </a:solidFill>
                <a:latin typeface="Segoe UI"/>
              </a:rPr>
              <a:t>How dangerous is it?</a:t>
            </a:r>
          </a:p>
          <a:p>
            <a:pPr algn="ctr">
              <a:spcAft>
                <a:spcPts val="0"/>
              </a:spcAft>
            </a:pPr>
            <a:r>
              <a:rPr sz="1250" b="0" i="0">
                <a:solidFill>
                  <a:srgbClr val="475569"/>
                </a:solidFill>
                <a:latin typeface="Segoe UI"/>
              </a:rPr>
              <a:t>risk, anomaly and P1–P4 priority</a:t>
            </a:r>
          </a:p>
        </p:txBody>
      </p:sp>
      <p:sp>
        <p:nvSpPr>
          <p:cNvPr id="12" name="Rounded Rectangle 11"/>
          <p:cNvSpPr/>
          <p:nvPr/>
        </p:nvSpPr>
        <p:spPr>
          <a:xfrm>
            <a:off x="6949440" y="3200400"/>
            <a:ext cx="2286000" cy="141732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3227832"/>
            <a:ext cx="2194560" cy="1362456"/>
          </a:xfrm>
          <a:prstGeom prst="rect">
            <a:avLst/>
          </a:prstGeom>
          <a:noFill/>
        </p:spPr>
        <p:txBody>
          <a:bodyPr wrap="square" anchor="ctr" lIns="45720" rIns="45720" tIns="27432" bIns="27432">
            <a:spAutoFit/>
          </a:bodyPr>
          <a:lstStyle/>
          <a:p>
            <a:pPr algn="ctr">
              <a:spcAft>
                <a:spcPts val="200"/>
              </a:spcAft>
            </a:pPr>
            <a:r>
              <a:rPr sz="1600" b="1" i="0">
                <a:solidFill>
                  <a:srgbClr val="0F172A"/>
                </a:solidFill>
                <a:latin typeface="Segoe UI"/>
              </a:rPr>
              <a:t>Has it happened before?</a:t>
            </a:r>
          </a:p>
          <a:p>
            <a:pPr algn="ctr">
              <a:spcAft>
                <a:spcPts val="0"/>
              </a:spcAft>
            </a:pPr>
            <a:r>
              <a:rPr sz="1250" b="0" i="0">
                <a:solidFill>
                  <a:srgbClr val="475569"/>
                </a:solidFill>
                <a:latin typeface="Segoe UI"/>
              </a:rPr>
              <a:t>similar past incidents</a:t>
            </a:r>
          </a:p>
        </p:txBody>
      </p:sp>
      <p:sp>
        <p:nvSpPr>
          <p:cNvPr id="14" name="Rounded Rectangle 13"/>
          <p:cNvSpPr/>
          <p:nvPr/>
        </p:nvSpPr>
        <p:spPr>
          <a:xfrm>
            <a:off x="9354312" y="3200400"/>
            <a:ext cx="2286000" cy="141732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00032" y="3227832"/>
            <a:ext cx="2194560" cy="1362456"/>
          </a:xfrm>
          <a:prstGeom prst="rect">
            <a:avLst/>
          </a:prstGeom>
          <a:noFill/>
        </p:spPr>
        <p:txBody>
          <a:bodyPr wrap="square" anchor="ctr" lIns="45720" rIns="45720" tIns="27432" bIns="27432">
            <a:spAutoFit/>
          </a:bodyPr>
          <a:lstStyle/>
          <a:p>
            <a:pPr algn="ctr">
              <a:spcAft>
                <a:spcPts val="200"/>
              </a:spcAft>
            </a:pPr>
            <a:r>
              <a:rPr sz="1600" b="1" i="0">
                <a:solidFill>
                  <a:srgbClr val="0F172A"/>
                </a:solidFill>
                <a:latin typeface="Segoe UI"/>
              </a:rPr>
              <a:t>What should we do?</a:t>
            </a:r>
          </a:p>
          <a:p>
            <a:pPr algn="ctr">
              <a:spcAft>
                <a:spcPts val="0"/>
              </a:spcAft>
            </a:pPr>
            <a:r>
              <a:rPr sz="1250" b="0" i="0">
                <a:solidFill>
                  <a:srgbClr val="475569"/>
                </a:solidFill>
                <a:latin typeface="Segoe UI"/>
              </a:rPr>
              <a:t>investigation and response steps</a:t>
            </a:r>
          </a:p>
        </p:txBody>
      </p:sp>
      <p:sp>
        <p:nvSpPr>
          <p:cNvPr id="16" name="TextBox 15"/>
          <p:cNvSpPr txBox="1"/>
          <p:nvPr/>
        </p:nvSpPr>
        <p:spPr>
          <a:xfrm>
            <a:off x="6949440" y="4937760"/>
            <a:ext cx="4690872" cy="731520"/>
          </a:xfrm>
          <a:prstGeom prst="rect">
            <a:avLst/>
          </a:prstGeom>
          <a:noFill/>
        </p:spPr>
        <p:txBody>
          <a:bodyPr wrap="square" anchor="t" lIns="45720" rIns="45720" tIns="27432" bIns="27432">
            <a:spAutoFit/>
          </a:bodyPr>
          <a:lstStyle/>
          <a:p>
            <a:pPr algn="ctr">
              <a:spcAft>
                <a:spcPts val="600"/>
              </a:spcAft>
            </a:pPr>
            <a:r>
              <a:rPr sz="1300" b="0" i="0">
                <a:solidFill>
                  <a:srgbClr val="475569"/>
                </a:solidFill>
                <a:latin typeface="Segoe UI"/>
              </a:rPr>
              <a:t>Data: CIC-IDS2017, 2.8 million labelled network flows, 15 traffic types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SOLUTION OVERVIEW</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One question in, an evidence-based answer out</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3</a:t>
            </a:r>
          </a:p>
        </p:txBody>
      </p:sp>
      <p:sp>
        <p:nvSpPr>
          <p:cNvPr id="7" name="Rounded Rectangle 6"/>
          <p:cNvSpPr/>
          <p:nvPr/>
        </p:nvSpPr>
        <p:spPr>
          <a:xfrm>
            <a:off x="548640" y="1691640"/>
            <a:ext cx="1597609"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Analyst question</a:t>
            </a:r>
          </a:p>
          <a:p>
            <a:pPr algn="ctr">
              <a:spcAft>
                <a:spcPts val="0"/>
              </a:spcAft>
            </a:pPr>
            <a:r>
              <a:rPr sz="1150" b="0" i="0">
                <a:solidFill>
                  <a:srgbClr val="475569"/>
                </a:solidFill>
                <a:latin typeface="Segoe UI"/>
              </a:rPr>
              <a:t>chat or flow metrics</a:t>
            </a:r>
          </a:p>
        </p:txBody>
      </p:sp>
      <p:sp>
        <p:nvSpPr>
          <p:cNvPr id="9" name="Rounded Rectangle 8"/>
          <p:cNvSpPr/>
          <p:nvPr/>
        </p:nvSpPr>
        <p:spPr>
          <a:xfrm>
            <a:off x="2448001" y="1691640"/>
            <a:ext cx="1597609" cy="91440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93721"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Safety check</a:t>
            </a:r>
          </a:p>
          <a:p>
            <a:pPr algn="ctr">
              <a:spcAft>
                <a:spcPts val="0"/>
              </a:spcAft>
            </a:pPr>
            <a:r>
              <a:rPr sz="1150" b="0" i="0">
                <a:solidFill>
                  <a:srgbClr val="475569"/>
                </a:solidFill>
                <a:latin typeface="Segoe UI"/>
              </a:rPr>
              <a:t>input guard</a:t>
            </a:r>
          </a:p>
        </p:txBody>
      </p:sp>
      <p:sp>
        <p:nvSpPr>
          <p:cNvPr id="11" name="Rounded Rectangle 10"/>
          <p:cNvSpPr/>
          <p:nvPr/>
        </p:nvSpPr>
        <p:spPr>
          <a:xfrm>
            <a:off x="4347362" y="1691640"/>
            <a:ext cx="1597609" cy="91440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3082"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Supervisor</a:t>
            </a:r>
          </a:p>
          <a:p>
            <a:pPr algn="ctr">
              <a:spcAft>
                <a:spcPts val="0"/>
              </a:spcAft>
            </a:pPr>
            <a:r>
              <a:rPr sz="1150" b="0" i="0">
                <a:solidFill>
                  <a:srgbClr val="475569"/>
                </a:solidFill>
                <a:latin typeface="Segoe UI"/>
              </a:rPr>
              <a:t>picks a route</a:t>
            </a:r>
          </a:p>
        </p:txBody>
      </p:sp>
      <p:sp>
        <p:nvSpPr>
          <p:cNvPr id="13" name="Rounded Rectangle 12"/>
          <p:cNvSpPr/>
          <p:nvPr/>
        </p:nvSpPr>
        <p:spPr>
          <a:xfrm>
            <a:off x="6246724" y="1691640"/>
            <a:ext cx="1597609" cy="91440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2444"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Specialist agents</a:t>
            </a:r>
          </a:p>
          <a:p>
            <a:pPr algn="ctr">
              <a:spcAft>
                <a:spcPts val="0"/>
              </a:spcAft>
            </a:pPr>
            <a:r>
              <a:rPr sz="1150" b="0" i="0">
                <a:solidFill>
                  <a:srgbClr val="475569"/>
                </a:solidFill>
                <a:latin typeface="Segoe UI"/>
              </a:rPr>
              <a:t>4 agents call tools</a:t>
            </a:r>
          </a:p>
        </p:txBody>
      </p:sp>
      <p:sp>
        <p:nvSpPr>
          <p:cNvPr id="15" name="Rounded Rectangle 14"/>
          <p:cNvSpPr/>
          <p:nvPr/>
        </p:nvSpPr>
        <p:spPr>
          <a:xfrm>
            <a:off x="8146085" y="1691640"/>
            <a:ext cx="1597609" cy="91440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1805"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Tools</a:t>
            </a:r>
          </a:p>
          <a:p>
            <a:pPr algn="ctr">
              <a:spcAft>
                <a:spcPts val="0"/>
              </a:spcAft>
            </a:pPr>
            <a:r>
              <a:rPr sz="1150" b="0" i="0">
                <a:solidFill>
                  <a:srgbClr val="475569"/>
                </a:solidFill>
                <a:latin typeface="Segoe UI"/>
              </a:rPr>
              <a:t>ML models, hybrid search</a:t>
            </a:r>
          </a:p>
        </p:txBody>
      </p:sp>
      <p:sp>
        <p:nvSpPr>
          <p:cNvPr id="17" name="Rounded Rectangle 16"/>
          <p:cNvSpPr/>
          <p:nvPr/>
        </p:nvSpPr>
        <p:spPr>
          <a:xfrm>
            <a:off x="10045446" y="1691640"/>
            <a:ext cx="1597609"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91166" y="1719072"/>
            <a:ext cx="1506169"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Answer</a:t>
            </a:r>
          </a:p>
          <a:p>
            <a:pPr algn="ctr">
              <a:spcAft>
                <a:spcPts val="0"/>
              </a:spcAft>
            </a:pPr>
            <a:r>
              <a:rPr sz="1150" b="0" i="0">
                <a:solidFill>
                  <a:srgbClr val="475569"/>
                </a:solidFill>
                <a:latin typeface="Segoe UI"/>
              </a:rPr>
              <a:t>checked, cited, graded</a:t>
            </a:r>
          </a:p>
        </p:txBody>
      </p:sp>
      <p:cxnSp>
        <p:nvCxnSpPr>
          <p:cNvPr id="19" name="Connector 18"/>
          <p:cNvCxnSpPr/>
          <p:nvPr/>
        </p:nvCxnSpPr>
        <p:spPr>
          <a:xfrm>
            <a:off x="2146249" y="21488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45610" y="21488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4972" y="21488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44333" y="21488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43694" y="21488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48640" y="3017520"/>
            <a:ext cx="3515258" cy="1417320"/>
          </a:xfrm>
          <a:prstGeom prst="roundRect">
            <a:avLst>
              <a:gd name="adj" fmla="val 7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3200400"/>
            <a:ext cx="54864" cy="3291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31455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Hybrid RAG search</a:t>
            </a:r>
          </a:p>
          <a:p>
            <a:pPr algn="l">
              <a:spcAft>
                <a:spcPts val="300"/>
              </a:spcAft>
            </a:pPr>
            <a:r>
              <a:rPr sz="1300" b="0" i="0">
                <a:solidFill>
                  <a:srgbClr val="475569"/>
                </a:solidFill>
                <a:latin typeface="Segoe UI"/>
              </a:rPr>
              <a:t>97,549 past incidents: keyword + semantic search, fused, with exact filters</a:t>
            </a:r>
          </a:p>
        </p:txBody>
      </p:sp>
      <p:sp>
        <p:nvSpPr>
          <p:cNvPr id="27" name="Rounded Rectangle 26"/>
          <p:cNvSpPr/>
          <p:nvPr/>
        </p:nvSpPr>
        <p:spPr>
          <a:xfrm>
            <a:off x="4338218" y="3017520"/>
            <a:ext cx="3515258" cy="1417320"/>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02810" y="320040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30826" y="31455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ML classification &amp; risk</a:t>
            </a:r>
          </a:p>
          <a:p>
            <a:pPr algn="l">
              <a:spcAft>
                <a:spcPts val="300"/>
              </a:spcAft>
            </a:pPr>
            <a:r>
              <a:rPr sz="1300" b="0" i="0">
                <a:solidFill>
                  <a:srgbClr val="475569"/>
                </a:solidFill>
                <a:latin typeface="Segoe UI"/>
              </a:rPr>
              <a:t>Attack type (15 classes), intrusion risk, anomaly score</a:t>
            </a:r>
          </a:p>
        </p:txBody>
      </p:sp>
      <p:sp>
        <p:nvSpPr>
          <p:cNvPr id="30" name="Rounded Rectangle 29"/>
          <p:cNvSpPr/>
          <p:nvPr/>
        </p:nvSpPr>
        <p:spPr>
          <a:xfrm>
            <a:off x="8127797" y="3017520"/>
            <a:ext cx="3515258" cy="1417320"/>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92389" y="320040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20405" y="31455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Explainable decisions</a:t>
            </a:r>
          </a:p>
          <a:p>
            <a:pPr algn="l">
              <a:spcAft>
                <a:spcPts val="300"/>
              </a:spcAft>
            </a:pPr>
            <a:r>
              <a:rPr sz="1300" b="0" i="0">
                <a:solidFill>
                  <a:srgbClr val="475569"/>
                </a:solidFill>
                <a:latin typeface="Segoe UI"/>
              </a:rPr>
              <a:t>SHAP shows which metrics drove each prediction, vs normal traffic</a:t>
            </a:r>
          </a:p>
        </p:txBody>
      </p:sp>
      <p:sp>
        <p:nvSpPr>
          <p:cNvPr id="33" name="Rounded Rectangle 32"/>
          <p:cNvSpPr/>
          <p:nvPr/>
        </p:nvSpPr>
        <p:spPr>
          <a:xfrm>
            <a:off x="548640" y="4617720"/>
            <a:ext cx="3515258" cy="141732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13232" y="480060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47457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Prioritisation</a:t>
            </a:r>
          </a:p>
          <a:p>
            <a:pPr algn="l">
              <a:spcAft>
                <a:spcPts val="300"/>
              </a:spcAft>
            </a:pPr>
            <a:r>
              <a:rPr sz="1300" b="0" i="0">
                <a:solidFill>
                  <a:srgbClr val="475569"/>
                </a:solidFill>
                <a:latin typeface="Segoe UI"/>
              </a:rPr>
              <a:t>Risk + severity + anomaly → P1–P4, for one flow, a batch or a CSV upload</a:t>
            </a:r>
          </a:p>
        </p:txBody>
      </p:sp>
      <p:sp>
        <p:nvSpPr>
          <p:cNvPr id="36" name="Rounded Rectangle 35"/>
          <p:cNvSpPr/>
          <p:nvPr/>
        </p:nvSpPr>
        <p:spPr>
          <a:xfrm>
            <a:off x="4338218" y="4617720"/>
            <a:ext cx="3515258" cy="1417320"/>
          </a:xfrm>
          <a:prstGeom prst="roundRect">
            <a:avLst>
              <a:gd name="adj" fmla="val 7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02810" y="4800600"/>
            <a:ext cx="54864"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30826" y="47457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Multi-agent investigation</a:t>
            </a:r>
          </a:p>
          <a:p>
            <a:pPr algn="l">
              <a:spcAft>
                <a:spcPts val="300"/>
              </a:spcAft>
            </a:pPr>
            <a:r>
              <a:rPr sz="1300" b="0" i="0">
                <a:solidFill>
                  <a:srgbClr val="475569"/>
                </a:solidFill>
                <a:latin typeface="Segoe UI"/>
              </a:rPr>
              <a:t>LangGraph supervisor + 4 specialist agents, some running in parallel</a:t>
            </a:r>
          </a:p>
        </p:txBody>
      </p:sp>
      <p:sp>
        <p:nvSpPr>
          <p:cNvPr id="39" name="Rounded Rectangle 38"/>
          <p:cNvSpPr/>
          <p:nvPr/>
        </p:nvSpPr>
        <p:spPr>
          <a:xfrm>
            <a:off x="8127797" y="4617720"/>
            <a:ext cx="3515258" cy="1417320"/>
          </a:xfrm>
          <a:prstGeom prst="roundRect">
            <a:avLst>
              <a:gd name="adj" fmla="val 7000"/>
            </a:avLst>
          </a:prstGeom>
          <a:solidFill>
            <a:srgbClr val="FDF2F8"/>
          </a:solidFill>
          <a:ln w="15875">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2389" y="4800600"/>
            <a:ext cx="54864" cy="32918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20405" y="4745736"/>
            <a:ext cx="3103778" cy="123444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Safety &amp; quality</a:t>
            </a:r>
          </a:p>
          <a:p>
            <a:pPr algn="l">
              <a:spcAft>
                <a:spcPts val="300"/>
              </a:spcAft>
            </a:pPr>
            <a:r>
              <a:rPr sz="1300" b="0" i="0">
                <a:solidFill>
                  <a:srgbClr val="475569"/>
                </a:solidFill>
                <a:latin typeface="Segoe UI"/>
              </a:rPr>
              <a:t>Guardrails, LLM-as-Judge, DeepEval, analyst feedback and safe retraining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HOW THE PARTS FIT TOGETHER</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Architecture and data flow</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4</a:t>
            </a:r>
          </a:p>
        </p:txBody>
      </p:sp>
      <p:sp>
        <p:nvSpPr>
          <p:cNvPr id="7" name="Rounded Rectangle 6"/>
          <p:cNvSpPr/>
          <p:nvPr/>
        </p:nvSpPr>
        <p:spPr>
          <a:xfrm>
            <a:off x="548640" y="1554480"/>
            <a:ext cx="11094415" cy="1508760"/>
          </a:xfrm>
          <a:prstGeom prst="roundRect">
            <a:avLst>
              <a:gd name="adj" fmla="val 4000"/>
            </a:avLst>
          </a:prstGeom>
          <a:noFill/>
          <a:ln w="15875">
            <a:solidFill>
              <a:srgbClr val="64748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00200"/>
            <a:ext cx="10874959" cy="274320"/>
          </a:xfrm>
          <a:prstGeom prst="rect">
            <a:avLst/>
          </a:prstGeom>
          <a:noFill/>
        </p:spPr>
        <p:txBody>
          <a:bodyPr wrap="square" anchor="t" lIns="45720" rIns="45720" tIns="27432" bIns="27432">
            <a:spAutoFit/>
          </a:bodyPr>
          <a:lstStyle/>
          <a:p>
            <a:pPr algn="l">
              <a:spcAft>
                <a:spcPts val="600"/>
              </a:spcAft>
            </a:pPr>
            <a:r>
              <a:rPr sz="1150" b="1" i="0">
                <a:solidFill>
                  <a:srgbClr val="64748B"/>
                </a:solidFill>
                <a:latin typeface="Segoe UI"/>
              </a:rPr>
              <a:t>OFFLINE · build the incident library once</a:t>
            </a:r>
          </a:p>
        </p:txBody>
      </p:sp>
      <p:sp>
        <p:nvSpPr>
          <p:cNvPr id="9" name="Rounded Rectangle 8"/>
          <p:cNvSpPr/>
          <p:nvPr/>
        </p:nvSpPr>
        <p:spPr>
          <a:xfrm>
            <a:off x="731520" y="1920240"/>
            <a:ext cx="1904329"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47672"/>
            <a:ext cx="1812889"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Dataset</a:t>
            </a:r>
          </a:p>
          <a:p>
            <a:pPr algn="ctr">
              <a:spcAft>
                <a:spcPts val="0"/>
              </a:spcAft>
            </a:pPr>
            <a:r>
              <a:rPr sz="1150" b="0" i="0">
                <a:solidFill>
                  <a:srgbClr val="475569"/>
                </a:solidFill>
                <a:latin typeface="Segoe UI"/>
              </a:rPr>
              <a:t>CIC-IDS2017, 8 CSV files</a:t>
            </a:r>
          </a:p>
        </p:txBody>
      </p:sp>
      <p:sp>
        <p:nvSpPr>
          <p:cNvPr id="11" name="Rounded Rectangle 10"/>
          <p:cNvSpPr/>
          <p:nvPr/>
        </p:nvSpPr>
        <p:spPr>
          <a:xfrm>
            <a:off x="2937601" y="1920240"/>
            <a:ext cx="1904329"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83321" y="1947672"/>
            <a:ext cx="1812889"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Preprocessing</a:t>
            </a:r>
          </a:p>
          <a:p>
            <a:pPr algn="ctr">
              <a:spcAft>
                <a:spcPts val="0"/>
              </a:spcAft>
            </a:pPr>
            <a:r>
              <a:rPr sz="1150" b="0" i="0">
                <a:solidFill>
                  <a:srgbClr val="475569"/>
                </a:solidFill>
                <a:latin typeface="Segoe UI"/>
              </a:rPr>
              <a:t>PySpark: clean, de-duplicate</a:t>
            </a:r>
          </a:p>
        </p:txBody>
      </p:sp>
      <p:sp>
        <p:nvSpPr>
          <p:cNvPr id="13" name="Rounded Rectangle 12"/>
          <p:cNvSpPr/>
          <p:nvPr/>
        </p:nvSpPr>
        <p:spPr>
          <a:xfrm>
            <a:off x="5143683" y="1920240"/>
            <a:ext cx="1904329"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89403" y="1947672"/>
            <a:ext cx="1812889"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Chunking</a:t>
            </a:r>
          </a:p>
          <a:p>
            <a:pPr algn="ctr">
              <a:spcAft>
                <a:spcPts val="0"/>
              </a:spcAft>
            </a:pPr>
            <a:r>
              <a:rPr sz="1150" b="0" i="0">
                <a:solidFill>
                  <a:srgbClr val="475569"/>
                </a:solidFill>
                <a:latin typeface="Segoe UI"/>
              </a:rPr>
              <a:t>97,549 incidents, 1 flow = 1 text</a:t>
            </a:r>
          </a:p>
        </p:txBody>
      </p:sp>
      <p:sp>
        <p:nvSpPr>
          <p:cNvPr id="15" name="Rounded Rectangle 14"/>
          <p:cNvSpPr/>
          <p:nvPr/>
        </p:nvSpPr>
        <p:spPr>
          <a:xfrm>
            <a:off x="7349764" y="1920240"/>
            <a:ext cx="1904329"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5484" y="1947672"/>
            <a:ext cx="1812889"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Embeddings</a:t>
            </a:r>
          </a:p>
          <a:p>
            <a:pPr algn="ctr">
              <a:spcAft>
                <a:spcPts val="0"/>
              </a:spcAft>
            </a:pPr>
            <a:r>
              <a:rPr sz="1150" b="0" i="0">
                <a:solidFill>
                  <a:srgbClr val="475569"/>
                </a:solidFill>
                <a:latin typeface="Segoe UI"/>
              </a:rPr>
              <a:t>all-MiniLM-L6-v2, 384-d</a:t>
            </a:r>
          </a:p>
        </p:txBody>
      </p:sp>
      <p:sp>
        <p:nvSpPr>
          <p:cNvPr id="17" name="Rounded Rectangle 16"/>
          <p:cNvSpPr/>
          <p:nvPr/>
        </p:nvSpPr>
        <p:spPr>
          <a:xfrm>
            <a:off x="9555846" y="1920240"/>
            <a:ext cx="1904329"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566" y="1947672"/>
            <a:ext cx="1812889"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Vector DB + BM25</a:t>
            </a:r>
          </a:p>
          <a:p>
            <a:pPr algn="ctr">
              <a:spcAft>
                <a:spcPts val="0"/>
              </a:spcAft>
            </a:pPr>
            <a:r>
              <a:rPr sz="1150" b="0" i="0">
                <a:solidFill>
                  <a:srgbClr val="475569"/>
                </a:solidFill>
                <a:latin typeface="Segoe UI"/>
              </a:rPr>
              <a:t>ChromaDB + keyword index</a:t>
            </a:r>
          </a:p>
        </p:txBody>
      </p:sp>
      <p:cxnSp>
        <p:nvCxnSpPr>
          <p:cNvPr id="19" name="Connector 18"/>
          <p:cNvCxnSpPr/>
          <p:nvPr/>
        </p:nvCxnSpPr>
        <p:spPr>
          <a:xfrm>
            <a:off x="2635849" y="23774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841931" y="23774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048012" y="23774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254094" y="237744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3246120"/>
            <a:ext cx="11094415" cy="2971800"/>
          </a:xfrm>
          <a:prstGeom prst="roundRect">
            <a:avLst>
              <a:gd name="adj" fmla="val 4000"/>
            </a:avLst>
          </a:prstGeom>
          <a:noFill/>
          <a:ln w="15875">
            <a:solidFill>
              <a:srgbClr val="7C3AE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291840"/>
            <a:ext cx="10874959" cy="274320"/>
          </a:xfrm>
          <a:prstGeom prst="rect">
            <a:avLst/>
          </a:prstGeom>
          <a:noFill/>
        </p:spPr>
        <p:txBody>
          <a:bodyPr wrap="square" anchor="t" lIns="45720" rIns="45720" tIns="27432" bIns="27432">
            <a:spAutoFit/>
          </a:bodyPr>
          <a:lstStyle/>
          <a:p>
            <a:pPr algn="l">
              <a:spcAft>
                <a:spcPts val="600"/>
              </a:spcAft>
            </a:pPr>
            <a:r>
              <a:rPr sz="1150" b="1" i="0">
                <a:solidFill>
                  <a:srgbClr val="7C3AED"/>
                </a:solidFill>
                <a:latin typeface="Segoe UI"/>
              </a:rPr>
              <a:t>ONLINE · answer a question</a:t>
            </a:r>
          </a:p>
        </p:txBody>
      </p:sp>
      <p:sp>
        <p:nvSpPr>
          <p:cNvPr id="25" name="Rounded Rectangle 24"/>
          <p:cNvSpPr/>
          <p:nvPr/>
        </p:nvSpPr>
        <p:spPr>
          <a:xfrm>
            <a:off x="731520" y="3611880"/>
            <a:ext cx="2377440"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639312"/>
            <a:ext cx="2286000"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Streamlit UI</a:t>
            </a:r>
          </a:p>
          <a:p>
            <a:pPr algn="ctr">
              <a:spcAft>
                <a:spcPts val="0"/>
              </a:spcAft>
            </a:pPr>
            <a:r>
              <a:rPr sz="1150" b="0" i="0">
                <a:solidFill>
                  <a:srgbClr val="475569"/>
                </a:solidFill>
                <a:latin typeface="Segoe UI"/>
              </a:rPr>
              <a:t>chat, flow analysis, search, triage</a:t>
            </a:r>
          </a:p>
        </p:txBody>
      </p:sp>
      <p:sp>
        <p:nvSpPr>
          <p:cNvPr id="27" name="Rounded Rectangle 26"/>
          <p:cNvSpPr/>
          <p:nvPr/>
        </p:nvSpPr>
        <p:spPr>
          <a:xfrm>
            <a:off x="3515258" y="3611880"/>
            <a:ext cx="2377440"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60978" y="3639312"/>
            <a:ext cx="2286000"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FastAPI backend</a:t>
            </a:r>
          </a:p>
          <a:p>
            <a:pPr algn="ctr">
              <a:spcAft>
                <a:spcPts val="0"/>
              </a:spcAft>
            </a:pPr>
            <a:r>
              <a:rPr sz="1150" b="0" i="0">
                <a:solidFill>
                  <a:srgbClr val="475569"/>
                </a:solidFill>
                <a:latin typeface="Segoe UI"/>
              </a:rPr>
              <a:t>REST + live events, sign-in</a:t>
            </a:r>
          </a:p>
        </p:txBody>
      </p:sp>
      <p:sp>
        <p:nvSpPr>
          <p:cNvPr id="29" name="Rounded Rectangle 28"/>
          <p:cNvSpPr/>
          <p:nvPr/>
        </p:nvSpPr>
        <p:spPr>
          <a:xfrm>
            <a:off x="6298997" y="3611880"/>
            <a:ext cx="2377440" cy="91440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4717" y="3639312"/>
            <a:ext cx="2286000"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LangGraph agents</a:t>
            </a:r>
          </a:p>
          <a:p>
            <a:pPr algn="ctr">
              <a:spcAft>
                <a:spcPts val="0"/>
              </a:spcAft>
            </a:pPr>
            <a:r>
              <a:rPr sz="1150" b="0" i="0">
                <a:solidFill>
                  <a:srgbClr val="475569"/>
                </a:solidFill>
                <a:latin typeface="Segoe UI"/>
              </a:rPr>
              <a:t>supervisor + 4 agents, guardrails</a:t>
            </a:r>
          </a:p>
        </p:txBody>
      </p:sp>
      <p:sp>
        <p:nvSpPr>
          <p:cNvPr id="31" name="Rounded Rectangle 30"/>
          <p:cNvSpPr/>
          <p:nvPr/>
        </p:nvSpPr>
        <p:spPr>
          <a:xfrm>
            <a:off x="9082735" y="3611880"/>
            <a:ext cx="2377440" cy="91440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28455" y="3639312"/>
            <a:ext cx="2286000" cy="85953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Tools</a:t>
            </a:r>
          </a:p>
          <a:p>
            <a:pPr algn="ctr">
              <a:spcAft>
                <a:spcPts val="0"/>
              </a:spcAft>
            </a:pPr>
            <a:r>
              <a:rPr sz="1150" b="0" i="0">
                <a:solidFill>
                  <a:srgbClr val="475569"/>
                </a:solidFill>
                <a:latin typeface="Segoe UI"/>
              </a:rPr>
              <a:t>ML service, prioritiser, hybrid retrieval</a:t>
            </a:r>
          </a:p>
        </p:txBody>
      </p:sp>
      <p:cxnSp>
        <p:nvCxnSpPr>
          <p:cNvPr id="33" name="Connector 32"/>
          <p:cNvCxnSpPr/>
          <p:nvPr/>
        </p:nvCxnSpPr>
        <p:spPr>
          <a:xfrm>
            <a:off x="3108960" y="4069080"/>
            <a:ext cx="406298" cy="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92698" y="4069080"/>
            <a:ext cx="406299" cy="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676437" y="4069080"/>
            <a:ext cx="406298" cy="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31520" y="5029200"/>
            <a:ext cx="2377440" cy="86868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056632"/>
            <a:ext cx="2286000" cy="81381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Analyst</a:t>
            </a:r>
          </a:p>
          <a:p>
            <a:pPr algn="ctr">
              <a:spcAft>
                <a:spcPts val="0"/>
              </a:spcAft>
            </a:pPr>
            <a:r>
              <a:rPr sz="1150" b="0" i="0">
                <a:solidFill>
                  <a:srgbClr val="475569"/>
                </a:solidFill>
                <a:latin typeface="Segoe UI"/>
              </a:rPr>
              <a:t>in the browser</a:t>
            </a:r>
          </a:p>
        </p:txBody>
      </p:sp>
      <p:cxnSp>
        <p:nvCxnSpPr>
          <p:cNvPr id="38" name="Connector 37"/>
          <p:cNvCxnSpPr/>
          <p:nvPr/>
        </p:nvCxnSpPr>
        <p:spPr>
          <a:xfrm>
            <a:off x="1920240" y="4526280"/>
            <a:ext cx="0" cy="50292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3515258" y="5029200"/>
            <a:ext cx="2377440" cy="86868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60978" y="5056632"/>
            <a:ext cx="2286000" cy="81381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SQLite</a:t>
            </a:r>
          </a:p>
          <a:p>
            <a:pPr algn="ctr">
              <a:spcAft>
                <a:spcPts val="0"/>
              </a:spcAft>
            </a:pPr>
            <a:r>
              <a:rPr sz="1150" b="0" i="0">
                <a:solidFill>
                  <a:srgbClr val="475569"/>
                </a:solidFill>
                <a:latin typeface="Segoe UI"/>
              </a:rPr>
              <a:t>accounts, saved chats, feedback</a:t>
            </a:r>
          </a:p>
        </p:txBody>
      </p:sp>
      <p:cxnSp>
        <p:nvCxnSpPr>
          <p:cNvPr id="41" name="Connector 40"/>
          <p:cNvCxnSpPr/>
          <p:nvPr/>
        </p:nvCxnSpPr>
        <p:spPr>
          <a:xfrm>
            <a:off x="4703978" y="4526280"/>
            <a:ext cx="0" cy="50292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298997" y="5029200"/>
            <a:ext cx="2377440" cy="868680"/>
          </a:xfrm>
          <a:prstGeom prst="roundRect">
            <a:avLst>
              <a:gd name="adj" fmla="val 12000"/>
            </a:avLst>
          </a:prstGeom>
          <a:solidFill>
            <a:srgbClr val="FDF2F8"/>
          </a:solidFill>
          <a:ln w="19050">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44717" y="5056632"/>
            <a:ext cx="2286000" cy="81381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LLM provider</a:t>
            </a:r>
          </a:p>
          <a:p>
            <a:pPr algn="ctr">
              <a:spcAft>
                <a:spcPts val="0"/>
              </a:spcAft>
            </a:pPr>
            <a:r>
              <a:rPr sz="1150" b="0" i="0">
                <a:solidFill>
                  <a:srgbClr val="475569"/>
                </a:solidFill>
                <a:latin typeface="Segoe UI"/>
              </a:rPr>
              <a:t>gpt-oss-20b on NVIDIA NIM</a:t>
            </a:r>
          </a:p>
        </p:txBody>
      </p:sp>
      <p:cxnSp>
        <p:nvCxnSpPr>
          <p:cNvPr id="44" name="Connector 43"/>
          <p:cNvCxnSpPr/>
          <p:nvPr/>
        </p:nvCxnSpPr>
        <p:spPr>
          <a:xfrm>
            <a:off x="7487717" y="4526280"/>
            <a:ext cx="0" cy="50292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9082735" y="5029200"/>
            <a:ext cx="2377440" cy="86868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28455" y="5056632"/>
            <a:ext cx="2286000" cy="81381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Models + indexes</a:t>
            </a:r>
          </a:p>
          <a:p>
            <a:pPr algn="ctr">
              <a:spcAft>
                <a:spcPts val="0"/>
              </a:spcAft>
            </a:pPr>
            <a:r>
              <a:rPr sz="1150" b="0" i="0">
                <a:solidFill>
                  <a:srgbClr val="475569"/>
                </a:solidFill>
                <a:latin typeface="Segoe UI"/>
              </a:rPr>
              <a:t>3 ML models, search index</a:t>
            </a:r>
          </a:p>
        </p:txBody>
      </p:sp>
      <p:cxnSp>
        <p:nvCxnSpPr>
          <p:cNvPr id="47" name="Connector 46"/>
          <p:cNvCxnSpPr/>
          <p:nvPr/>
        </p:nvCxnSpPr>
        <p:spPr>
          <a:xfrm>
            <a:off x="10271455" y="4526280"/>
            <a:ext cx="0" cy="50292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508010" y="2834640"/>
            <a:ext cx="0" cy="77724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0599450" y="3291840"/>
            <a:ext cx="2377440" cy="274320"/>
          </a:xfrm>
          <a:prstGeom prst="rect">
            <a:avLst/>
          </a:prstGeom>
          <a:noFill/>
        </p:spPr>
        <p:txBody>
          <a:bodyPr wrap="square" anchor="t" lIns="45720" rIns="45720" tIns="27432" bIns="27432">
            <a:spAutoFit/>
          </a:bodyPr>
          <a:lstStyle/>
          <a:p>
            <a:pPr algn="l">
              <a:spcAft>
                <a:spcPts val="600"/>
              </a:spcAft>
            </a:pPr>
            <a:r>
              <a:rPr sz="1050" b="0" i="0">
                <a:solidFill>
                  <a:srgbClr val="475569"/>
                </a:solidFill>
                <a:latin typeface="Segoe UI"/>
              </a:rPr>
              <a:t>search index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CANADIAN INSTITUTE FOR CYBERSECURITY</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Dataset: CIC-IDS2017</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5</a:t>
            </a:r>
          </a:p>
        </p:txBody>
      </p:sp>
      <p:sp>
        <p:nvSpPr>
          <p:cNvPr id="7" name="Rounded Rectangle 6"/>
          <p:cNvSpPr/>
          <p:nvPr/>
        </p:nvSpPr>
        <p:spPr>
          <a:xfrm>
            <a:off x="548640" y="1600200"/>
            <a:ext cx="2011680" cy="1371600"/>
          </a:xfrm>
          <a:prstGeom prst="roundRect">
            <a:avLst>
              <a:gd name="adj" fmla="val 8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099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2563EB"/>
                </a:solidFill>
                <a:latin typeface="Segoe UI"/>
              </a:rPr>
              <a:t>2,830,743</a:t>
            </a:r>
          </a:p>
        </p:txBody>
      </p:sp>
      <p:sp>
        <p:nvSpPr>
          <p:cNvPr id="9" name="TextBox 8"/>
          <p:cNvSpPr txBox="1"/>
          <p:nvPr/>
        </p:nvSpPr>
        <p:spPr>
          <a:xfrm>
            <a:off x="640080" y="23774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network flows in 8 CSV files</a:t>
            </a:r>
          </a:p>
        </p:txBody>
      </p:sp>
      <p:sp>
        <p:nvSpPr>
          <p:cNvPr id="10" name="Rounded Rectangle 9"/>
          <p:cNvSpPr/>
          <p:nvPr/>
        </p:nvSpPr>
        <p:spPr>
          <a:xfrm>
            <a:off x="2743200" y="1600200"/>
            <a:ext cx="2011680" cy="137160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7099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15</a:t>
            </a:r>
          </a:p>
        </p:txBody>
      </p:sp>
      <p:sp>
        <p:nvSpPr>
          <p:cNvPr id="12" name="TextBox 11"/>
          <p:cNvSpPr txBox="1"/>
          <p:nvPr/>
        </p:nvSpPr>
        <p:spPr>
          <a:xfrm>
            <a:off x="2834640" y="23774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labels: BENIGN + 14 attack types</a:t>
            </a:r>
          </a:p>
        </p:txBody>
      </p:sp>
      <p:sp>
        <p:nvSpPr>
          <p:cNvPr id="13" name="Rounded Rectangle 12"/>
          <p:cNvSpPr/>
          <p:nvPr/>
        </p:nvSpPr>
        <p:spPr>
          <a:xfrm>
            <a:off x="4937760" y="1600200"/>
            <a:ext cx="2011680" cy="1371600"/>
          </a:xfrm>
          <a:prstGeom prst="roundRect">
            <a:avLst>
              <a:gd name="adj" fmla="val 8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37760" y="17099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64748B"/>
                </a:solidFill>
                <a:latin typeface="Segoe UI"/>
              </a:rPr>
              <a:t>5 days</a:t>
            </a:r>
          </a:p>
        </p:txBody>
      </p:sp>
      <p:sp>
        <p:nvSpPr>
          <p:cNvPr id="15" name="TextBox 14"/>
          <p:cNvSpPr txBox="1"/>
          <p:nvPr/>
        </p:nvSpPr>
        <p:spPr>
          <a:xfrm>
            <a:off x="5029200" y="23774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of lab traffic, 3–7 July 2017</a:t>
            </a:r>
          </a:p>
        </p:txBody>
      </p:sp>
      <p:sp>
        <p:nvSpPr>
          <p:cNvPr id="16" name="Rounded Rectangle 15"/>
          <p:cNvSpPr/>
          <p:nvPr/>
        </p:nvSpPr>
        <p:spPr>
          <a:xfrm>
            <a:off x="548640" y="3200400"/>
            <a:ext cx="2011680" cy="1371600"/>
          </a:xfrm>
          <a:prstGeom prst="roundRect">
            <a:avLst>
              <a:gd name="adj" fmla="val 8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3101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059669"/>
                </a:solidFill>
                <a:latin typeface="Segoe UI"/>
              </a:rPr>
              <a:t>2,236,725</a:t>
            </a:r>
          </a:p>
        </p:txBody>
      </p:sp>
      <p:sp>
        <p:nvSpPr>
          <p:cNvPr id="18" name="TextBox 17"/>
          <p:cNvSpPr txBox="1"/>
          <p:nvPr/>
        </p:nvSpPr>
        <p:spPr>
          <a:xfrm>
            <a:off x="640080" y="39776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flows after cleaning and de-duplication</a:t>
            </a:r>
          </a:p>
        </p:txBody>
      </p:sp>
      <p:sp>
        <p:nvSpPr>
          <p:cNvPr id="19" name="Rounded Rectangle 18"/>
          <p:cNvSpPr/>
          <p:nvPr/>
        </p:nvSpPr>
        <p:spPr>
          <a:xfrm>
            <a:off x="2743200" y="3200400"/>
            <a:ext cx="2011680" cy="1371600"/>
          </a:xfrm>
          <a:prstGeom prst="roundRect">
            <a:avLst>
              <a:gd name="adj" fmla="val 8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0" y="33101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2563EB"/>
                </a:solidFill>
                <a:latin typeface="Segoe UI"/>
              </a:rPr>
              <a:t>97,549</a:t>
            </a:r>
          </a:p>
        </p:txBody>
      </p:sp>
      <p:sp>
        <p:nvSpPr>
          <p:cNvPr id="21" name="TextBox 20"/>
          <p:cNvSpPr txBox="1"/>
          <p:nvPr/>
        </p:nvSpPr>
        <p:spPr>
          <a:xfrm>
            <a:off x="2834640" y="39776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incidents in the search library</a:t>
            </a:r>
          </a:p>
        </p:txBody>
      </p:sp>
      <p:sp>
        <p:nvSpPr>
          <p:cNvPr id="22" name="Rounded Rectangle 21"/>
          <p:cNvSpPr/>
          <p:nvPr/>
        </p:nvSpPr>
        <p:spPr>
          <a:xfrm>
            <a:off x="4937760" y="3200400"/>
            <a:ext cx="2011680" cy="1371600"/>
          </a:xfrm>
          <a:prstGeom prst="roundRect">
            <a:avLst>
              <a:gd name="adj" fmla="val 8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37760" y="3310128"/>
            <a:ext cx="2011680" cy="685800"/>
          </a:xfrm>
          <a:prstGeom prst="rect">
            <a:avLst/>
          </a:prstGeom>
          <a:noFill/>
        </p:spPr>
        <p:txBody>
          <a:bodyPr wrap="square" anchor="t" lIns="45720" rIns="45720" tIns="27432" bIns="27432">
            <a:spAutoFit/>
          </a:bodyPr>
          <a:lstStyle/>
          <a:p>
            <a:pPr algn="ctr">
              <a:spcAft>
                <a:spcPts val="600"/>
              </a:spcAft>
            </a:pPr>
            <a:r>
              <a:rPr sz="3000" b="1" i="0">
                <a:solidFill>
                  <a:srgbClr val="D97706"/>
                </a:solidFill>
                <a:latin typeface="Segoe UI"/>
              </a:rPr>
              <a:t>24</a:t>
            </a:r>
          </a:p>
        </p:txBody>
      </p:sp>
      <p:sp>
        <p:nvSpPr>
          <p:cNvPr id="24" name="TextBox 23"/>
          <p:cNvSpPr txBox="1"/>
          <p:nvPr/>
        </p:nvSpPr>
        <p:spPr>
          <a:xfrm>
            <a:off x="5029200" y="3977640"/>
            <a:ext cx="1828800"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flow metrics used by the models</a:t>
            </a:r>
          </a:p>
        </p:txBody>
      </p:sp>
      <p:sp>
        <p:nvSpPr>
          <p:cNvPr id="25" name="Rounded Rectangle 24"/>
          <p:cNvSpPr/>
          <p:nvPr/>
        </p:nvSpPr>
        <p:spPr>
          <a:xfrm>
            <a:off x="548640" y="4800600"/>
            <a:ext cx="6400800" cy="1325880"/>
          </a:xfrm>
          <a:prstGeom prst="roundRect">
            <a:avLst>
              <a:gd name="adj" fmla="val 7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13232" y="4983480"/>
            <a:ext cx="54864"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4928616"/>
            <a:ext cx="5989320" cy="114300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Labels include</a:t>
            </a:r>
          </a:p>
          <a:p>
            <a:pPr algn="l">
              <a:spcAft>
                <a:spcPts val="300"/>
              </a:spcAft>
            </a:pPr>
            <a:r>
              <a:rPr sz="1250" b="0" i="0">
                <a:solidFill>
                  <a:srgbClr val="475569"/>
                </a:solidFill>
                <a:latin typeface="Segoe UI"/>
              </a:rPr>
              <a:t>DoS (Hulk, GoldenEye, Slowloris, Slowhttptest), DDoS, PortScan, SSH- and FTP-Patator, Web attacks (brute force, XSS, SQL injection), Bot, Infiltration, Heartbleed</a:t>
            </a:r>
          </a:p>
        </p:txBody>
      </p:sp>
      <p:sp>
        <p:nvSpPr>
          <p:cNvPr id="28" name="Rounded Rectangle 27"/>
          <p:cNvSpPr/>
          <p:nvPr/>
        </p:nvSpPr>
        <p:spPr>
          <a:xfrm>
            <a:off x="7452360" y="1600200"/>
            <a:ext cx="4187952" cy="713232"/>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0" y="1627632"/>
            <a:ext cx="4096512" cy="658368"/>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Raw CSVs</a:t>
            </a:r>
          </a:p>
          <a:p>
            <a:pPr algn="ctr">
              <a:spcAft>
                <a:spcPts val="0"/>
              </a:spcAft>
            </a:pPr>
            <a:r>
              <a:rPr sz="1150" b="0" i="0">
                <a:solidFill>
                  <a:srgbClr val="475569"/>
                </a:solidFill>
                <a:latin typeface="Segoe UI"/>
              </a:rPr>
              <a:t>79 columns, 8 files</a:t>
            </a:r>
          </a:p>
        </p:txBody>
      </p:sp>
      <p:sp>
        <p:nvSpPr>
          <p:cNvPr id="30" name="Rounded Rectangle 29"/>
          <p:cNvSpPr/>
          <p:nvPr/>
        </p:nvSpPr>
        <p:spPr>
          <a:xfrm>
            <a:off x="7452360" y="2514600"/>
            <a:ext cx="4187952" cy="713232"/>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0" y="2542032"/>
            <a:ext cx="4096512" cy="658368"/>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Clean</a:t>
            </a:r>
          </a:p>
          <a:p>
            <a:pPr algn="ctr">
              <a:spcAft>
                <a:spcPts val="0"/>
              </a:spcAft>
            </a:pPr>
            <a:r>
              <a:rPr sz="1150" b="0" i="0">
                <a:solidFill>
                  <a:srgbClr val="475569"/>
                </a:solidFill>
                <a:latin typeface="Segoe UI"/>
              </a:rPr>
              <a:t>fix headers, types, inf → empty, labels</a:t>
            </a:r>
          </a:p>
        </p:txBody>
      </p:sp>
      <p:cxnSp>
        <p:nvCxnSpPr>
          <p:cNvPr id="32" name="Connector 31"/>
          <p:cNvCxnSpPr/>
          <p:nvPr/>
        </p:nvCxnSpPr>
        <p:spPr>
          <a:xfrm>
            <a:off x="9546336" y="2313432"/>
            <a:ext cx="0" cy="201168"/>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7452360" y="3429000"/>
            <a:ext cx="4187952" cy="713232"/>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0" y="3456432"/>
            <a:ext cx="4096512" cy="658368"/>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De-duplicate</a:t>
            </a:r>
          </a:p>
          <a:p>
            <a:pPr algn="ctr">
              <a:spcAft>
                <a:spcPts val="0"/>
              </a:spcAft>
            </a:pPr>
            <a:r>
              <a:rPr sz="1150" b="0" i="0">
                <a:solidFill>
                  <a:srgbClr val="475569"/>
                </a:solidFill>
                <a:latin typeface="Segoe UI"/>
              </a:rPr>
              <a:t>SHA-256 per row</a:t>
            </a:r>
          </a:p>
        </p:txBody>
      </p:sp>
      <p:cxnSp>
        <p:nvCxnSpPr>
          <p:cNvPr id="35" name="Connector 34"/>
          <p:cNvCxnSpPr/>
          <p:nvPr/>
        </p:nvCxnSpPr>
        <p:spPr>
          <a:xfrm>
            <a:off x="9546336" y="3227832"/>
            <a:ext cx="0" cy="201168"/>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452360" y="4343400"/>
            <a:ext cx="4187952" cy="713232"/>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0" y="4370832"/>
            <a:ext cx="4096512" cy="658368"/>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Sample + describe</a:t>
            </a:r>
          </a:p>
          <a:p>
            <a:pPr algn="ctr">
              <a:spcAft>
                <a:spcPts val="0"/>
              </a:spcAft>
            </a:pPr>
            <a:r>
              <a:rPr sz="1150" b="0" i="0">
                <a:solidFill>
                  <a:srgbClr val="475569"/>
                </a:solidFill>
                <a:latin typeface="Segoe UI"/>
              </a:rPr>
              <a:t>stratified, 1 flow → 1 incident text</a:t>
            </a:r>
          </a:p>
        </p:txBody>
      </p:sp>
      <p:cxnSp>
        <p:nvCxnSpPr>
          <p:cNvPr id="38" name="Connector 37"/>
          <p:cNvCxnSpPr/>
          <p:nvPr/>
        </p:nvCxnSpPr>
        <p:spPr>
          <a:xfrm>
            <a:off x="9546336" y="4142232"/>
            <a:ext cx="0" cy="201168"/>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452360" y="5303520"/>
            <a:ext cx="4187952" cy="82296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616952" y="548640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44968" y="5431536"/>
            <a:ext cx="3776472" cy="640080"/>
          </a:xfrm>
          <a:prstGeom prst="rect">
            <a:avLst/>
          </a:prstGeom>
          <a:noFill/>
        </p:spPr>
        <p:txBody>
          <a:bodyPr wrap="square" anchor="t" lIns="45720" rIns="45720" tIns="27432" bIns="27432">
            <a:spAutoFit/>
          </a:bodyPr>
          <a:lstStyle/>
          <a:p>
            <a:pPr algn="l">
              <a:spcAft>
                <a:spcPts val="600"/>
              </a:spcAft>
            </a:pPr>
            <a:r>
              <a:rPr sz="1400" b="1" i="0">
                <a:solidFill>
                  <a:srgbClr val="0F172A"/>
                </a:solidFill>
                <a:latin typeface="Segoe UI"/>
              </a:rPr>
              <a:t>Limitation</a:t>
            </a:r>
          </a:p>
          <a:p>
            <a:pPr algn="l">
              <a:spcAft>
                <a:spcPts val="300"/>
              </a:spcAft>
            </a:pPr>
            <a:r>
              <a:rPr sz="1250" b="0" i="0">
                <a:solidFill>
                  <a:srgbClr val="475569"/>
                </a:solidFill>
                <a:latin typeface="Segoe UI"/>
              </a:rPr>
              <a:t>No IP, protocol or timestamp in this release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BUILT WITH</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Technology stack</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6</a:t>
            </a:r>
          </a:p>
        </p:txBody>
      </p:sp>
      <p:graphicFrame>
        <p:nvGraphicFramePr>
          <p:cNvPr id="7" name="Table 6"/>
          <p:cNvGraphicFramePr>
            <a:graphicFrameLocks noGrp="1"/>
          </p:cNvGraphicFramePr>
          <p:nvPr/>
        </p:nvGraphicFramePr>
        <p:xfrm>
          <a:off x="548640" y="1600200"/>
          <a:ext cx="11094414" cy="4517136"/>
        </p:xfrm>
        <a:graphic>
          <a:graphicData uri="http://schemas.openxmlformats.org/drawingml/2006/table">
            <a:tbl>
              <a:tblPr firstRow="1" bandRow="1">
                <a:tableStyleId>{5C22544A-7EE6-4342-B048-85BDC9FD1C3A}</a:tableStyleId>
              </a:tblPr>
              <a:tblGrid>
                <a:gridCol w="2392913"/>
                <a:gridCol w="8701501"/>
              </a:tblGrid>
              <a:tr h="347472">
                <a:tc>
                  <a:txBody>
                    <a:bodyPr wrap="square"/>
                    <a:lstStyle/>
                    <a:p>
                      <a:r>
                        <a:rPr sz="1300" b="1" i="0">
                          <a:solidFill>
                            <a:srgbClr val="1E3A8A"/>
                          </a:solidFill>
                          <a:latin typeface="Segoe UI"/>
                        </a:rPr>
                        <a:t>Component</a:t>
                      </a:r>
                    </a:p>
                  </a:txBody>
                  <a:tcPr marL="73152" marR="73152" marT="36576" marB="36576" anchor="ctr">
                    <a:solidFill>
                      <a:srgbClr val="EFF6FF"/>
                    </a:solidFill>
                  </a:tcPr>
                </a:tc>
                <a:tc>
                  <a:txBody>
                    <a:bodyPr wrap="square"/>
                    <a:lstStyle/>
                    <a:p>
                      <a:r>
                        <a:rPr sz="1300" b="1" i="0">
                          <a:solidFill>
                            <a:srgbClr val="1E3A8A"/>
                          </a:solidFill>
                          <a:latin typeface="Segoe UI"/>
                        </a:rPr>
                        <a:t>Technology</a:t>
                      </a:r>
                    </a:p>
                  </a:txBody>
                  <a:tcPr marL="73152" marR="73152" marT="36576" marB="36576" anchor="ctr">
                    <a:solidFill>
                      <a:srgbClr val="EFF6FF"/>
                    </a:solidFill>
                  </a:tcPr>
                </a:tc>
              </a:tr>
              <a:tr h="347472">
                <a:tc>
                  <a:txBody>
                    <a:bodyPr wrap="square"/>
                    <a:lstStyle/>
                    <a:p>
                      <a:r>
                        <a:rPr sz="1300" b="0" i="0">
                          <a:solidFill>
                            <a:srgbClr val="0F172A"/>
                          </a:solidFill>
                          <a:latin typeface="Segoe UI"/>
                        </a:rPr>
                        <a:t>Language</a:t>
                      </a:r>
                    </a:p>
                  </a:txBody>
                  <a:tcPr marL="73152" marR="73152" marT="36576" marB="36576" anchor="ctr">
                    <a:solidFill>
                      <a:srgbClr val="FFFFFF"/>
                    </a:solidFill>
                  </a:tcPr>
                </a:tc>
                <a:tc>
                  <a:txBody>
                    <a:bodyPr wrap="square"/>
                    <a:lstStyle/>
                    <a:p>
                      <a:r>
                        <a:rPr sz="1300" b="0" i="0">
                          <a:solidFill>
                            <a:srgbClr val="0F172A"/>
                          </a:solidFill>
                          <a:latin typeface="Segoe UI"/>
                        </a:rPr>
                        <a:t>Python 3.10</a:t>
                      </a:r>
                    </a:p>
                  </a:txBody>
                  <a:tcPr marL="73152" marR="73152" marT="36576" marB="36576" anchor="ctr">
                    <a:solidFill>
                      <a:srgbClr val="FFFFFF"/>
                    </a:solidFill>
                  </a:tcPr>
                </a:tc>
              </a:tr>
              <a:tr h="347472">
                <a:tc>
                  <a:txBody>
                    <a:bodyPr wrap="square"/>
                    <a:lstStyle/>
                    <a:p>
                      <a:r>
                        <a:rPr sz="1300" b="0" i="0">
                          <a:solidFill>
                            <a:srgbClr val="0F172A"/>
                          </a:solidFill>
                          <a:latin typeface="Segoe UI"/>
                        </a:rPr>
                        <a:t>LLM</a:t>
                      </a:r>
                    </a:p>
                  </a:txBody>
                  <a:tcPr marL="73152" marR="73152" marT="36576" marB="36576" anchor="ctr">
                    <a:solidFill>
                      <a:srgbClr val="F8FAFC"/>
                    </a:solidFill>
                  </a:tcPr>
                </a:tc>
                <a:tc>
                  <a:txBody>
                    <a:bodyPr wrap="square"/>
                    <a:lstStyle/>
                    <a:p>
                      <a:r>
                        <a:rPr sz="1300" b="0" i="0">
                          <a:solidFill>
                            <a:srgbClr val="0F172A"/>
                          </a:solidFill>
                          <a:latin typeface="Segoe UI"/>
                        </a:rPr>
                        <a:t>openai/gpt-oss-20b on NVIDIA NIM (switchable to Gemini or Claude in .env)</a:t>
                      </a:r>
                    </a:p>
                  </a:txBody>
                  <a:tcPr marL="73152" marR="73152" marT="36576" marB="36576" anchor="ctr">
                    <a:solidFill>
                      <a:srgbClr val="F8FAFC"/>
                    </a:solidFill>
                  </a:tcPr>
                </a:tc>
              </a:tr>
              <a:tr h="347472">
                <a:tc>
                  <a:txBody>
                    <a:bodyPr wrap="square"/>
                    <a:lstStyle/>
                    <a:p>
                      <a:r>
                        <a:rPr sz="1300" b="0" i="0">
                          <a:solidFill>
                            <a:srgbClr val="0F172A"/>
                          </a:solidFill>
                          <a:latin typeface="Segoe UI"/>
                        </a:rPr>
                        <a:t>Embedding model</a:t>
                      </a:r>
                    </a:p>
                  </a:txBody>
                  <a:tcPr marL="73152" marR="73152" marT="36576" marB="36576" anchor="ctr">
                    <a:solidFill>
                      <a:srgbClr val="FFFFFF"/>
                    </a:solidFill>
                  </a:tcPr>
                </a:tc>
                <a:tc>
                  <a:txBody>
                    <a:bodyPr wrap="square"/>
                    <a:lstStyle/>
                    <a:p>
                      <a:r>
                        <a:rPr sz="1300" b="0" i="0">
                          <a:solidFill>
                            <a:srgbClr val="0F172A"/>
                          </a:solidFill>
                          <a:latin typeface="Segoe UI"/>
                        </a:rPr>
                        <a:t>sentence-transformers/all-MiniLM-L6-v2 (384 dimensions)</a:t>
                      </a:r>
                    </a:p>
                  </a:txBody>
                  <a:tcPr marL="73152" marR="73152" marT="36576" marB="36576" anchor="ctr">
                    <a:solidFill>
                      <a:srgbClr val="FFFFFF"/>
                    </a:solidFill>
                  </a:tcPr>
                </a:tc>
              </a:tr>
              <a:tr h="347472">
                <a:tc>
                  <a:txBody>
                    <a:bodyPr wrap="square"/>
                    <a:lstStyle/>
                    <a:p>
                      <a:r>
                        <a:rPr sz="1300" b="0" i="0">
                          <a:solidFill>
                            <a:srgbClr val="0F172A"/>
                          </a:solidFill>
                          <a:latin typeface="Segoe UI"/>
                        </a:rPr>
                        <a:t>Vector database</a:t>
                      </a:r>
                    </a:p>
                  </a:txBody>
                  <a:tcPr marL="73152" marR="73152" marT="36576" marB="36576" anchor="ctr">
                    <a:solidFill>
                      <a:srgbClr val="F8FAFC"/>
                    </a:solidFill>
                  </a:tcPr>
                </a:tc>
                <a:tc>
                  <a:txBody>
                    <a:bodyPr wrap="square"/>
                    <a:lstStyle/>
                    <a:p>
                      <a:r>
                        <a:rPr sz="1300" b="0" i="0">
                          <a:solidFill>
                            <a:srgbClr val="0F172A"/>
                          </a:solidFill>
                          <a:latin typeface="Segoe UI"/>
                        </a:rPr>
                        <a:t>ChromaDB (persistent, cosine distance)</a:t>
                      </a:r>
                    </a:p>
                  </a:txBody>
                  <a:tcPr marL="73152" marR="73152" marT="36576" marB="36576" anchor="ctr">
                    <a:solidFill>
                      <a:srgbClr val="F8FAFC"/>
                    </a:solidFill>
                  </a:tcPr>
                </a:tc>
              </a:tr>
              <a:tr h="347472">
                <a:tc>
                  <a:txBody>
                    <a:bodyPr wrap="square"/>
                    <a:lstStyle/>
                    <a:p>
                      <a:r>
                        <a:rPr sz="1300" b="0" i="0">
                          <a:solidFill>
                            <a:srgbClr val="0F172A"/>
                          </a:solidFill>
                          <a:latin typeface="Segoe UI"/>
                        </a:rPr>
                        <a:t>Keyword search</a:t>
                      </a:r>
                    </a:p>
                  </a:txBody>
                  <a:tcPr marL="73152" marR="73152" marT="36576" marB="36576" anchor="ctr">
                    <a:solidFill>
                      <a:srgbClr val="FFFFFF"/>
                    </a:solidFill>
                  </a:tcPr>
                </a:tc>
                <a:tc>
                  <a:txBody>
                    <a:bodyPr wrap="square"/>
                    <a:lstStyle/>
                    <a:p>
                      <a:r>
                        <a:rPr sz="1300" b="0" i="0">
                          <a:solidFill>
                            <a:srgbClr val="0F172A"/>
                          </a:solidFill>
                          <a:latin typeface="Segoe UI"/>
                        </a:rPr>
                        <a:t>rank-bm25 (BM25Okapi), fused with Reciprocal Rank Fusion</a:t>
                      </a:r>
                    </a:p>
                  </a:txBody>
                  <a:tcPr marL="73152" marR="73152" marT="36576" marB="36576" anchor="ctr">
                    <a:solidFill>
                      <a:srgbClr val="FFFFFF"/>
                    </a:solidFill>
                  </a:tcPr>
                </a:tc>
              </a:tr>
              <a:tr h="347472">
                <a:tc>
                  <a:txBody>
                    <a:bodyPr wrap="square"/>
                    <a:lstStyle/>
                    <a:p>
                      <a:r>
                        <a:rPr sz="1300" b="0" i="0">
                          <a:solidFill>
                            <a:srgbClr val="0F172A"/>
                          </a:solidFill>
                          <a:latin typeface="Segoe UI"/>
                        </a:rPr>
                        <a:t>Agent framework</a:t>
                      </a:r>
                    </a:p>
                  </a:txBody>
                  <a:tcPr marL="73152" marR="73152" marT="36576" marB="36576" anchor="ctr">
                    <a:solidFill>
                      <a:srgbClr val="F8FAFC"/>
                    </a:solidFill>
                  </a:tcPr>
                </a:tc>
                <a:tc>
                  <a:txBody>
                    <a:bodyPr wrap="square"/>
                    <a:lstStyle/>
                    <a:p>
                      <a:r>
                        <a:rPr sz="1300" b="0" i="0">
                          <a:solidFill>
                            <a:srgbClr val="0F172A"/>
                          </a:solidFill>
                          <a:latin typeface="Segoe UI"/>
                        </a:rPr>
                        <a:t>LangGraph, LangChain</a:t>
                      </a:r>
                    </a:p>
                  </a:txBody>
                  <a:tcPr marL="73152" marR="73152" marT="36576" marB="36576" anchor="ctr">
                    <a:solidFill>
                      <a:srgbClr val="F8FAFC"/>
                    </a:solidFill>
                  </a:tcPr>
                </a:tc>
              </a:tr>
              <a:tr h="347472">
                <a:tc>
                  <a:txBody>
                    <a:bodyPr wrap="square"/>
                    <a:lstStyle/>
                    <a:p>
                      <a:r>
                        <a:rPr sz="1300" b="0" i="0">
                          <a:solidFill>
                            <a:srgbClr val="0F172A"/>
                          </a:solidFill>
                          <a:latin typeface="Segoe UI"/>
                        </a:rPr>
                        <a:t>Machine learning</a:t>
                      </a:r>
                    </a:p>
                  </a:txBody>
                  <a:tcPr marL="73152" marR="73152" marT="36576" marB="36576" anchor="ctr">
                    <a:solidFill>
                      <a:srgbClr val="FFFFFF"/>
                    </a:solidFill>
                  </a:tcPr>
                </a:tc>
                <a:tc>
                  <a:txBody>
                    <a:bodyPr wrap="square"/>
                    <a:lstStyle/>
                    <a:p>
                      <a:r>
                        <a:rPr sz="1300" b="0" i="0">
                          <a:solidFill>
                            <a:srgbClr val="0F172A"/>
                          </a:solidFill>
                          <a:latin typeface="Segoe UI"/>
                        </a:rPr>
                        <a:t>scikit-learn (Random Forest, gradient boosting, Isolation Forest), SHAP</a:t>
                      </a:r>
                    </a:p>
                  </a:txBody>
                  <a:tcPr marL="73152" marR="73152" marT="36576" marB="36576" anchor="ctr">
                    <a:solidFill>
                      <a:srgbClr val="FFFFFF"/>
                    </a:solidFill>
                  </a:tcPr>
                </a:tc>
              </a:tr>
              <a:tr h="347472">
                <a:tc>
                  <a:txBody>
                    <a:bodyPr wrap="square"/>
                    <a:lstStyle/>
                    <a:p>
                      <a:r>
                        <a:rPr sz="1300" b="0" i="0">
                          <a:solidFill>
                            <a:srgbClr val="0F172A"/>
                          </a:solidFill>
                          <a:latin typeface="Segoe UI"/>
                        </a:rPr>
                        <a:t>Data processing</a:t>
                      </a:r>
                    </a:p>
                  </a:txBody>
                  <a:tcPr marL="73152" marR="73152" marT="36576" marB="36576" anchor="ctr">
                    <a:solidFill>
                      <a:srgbClr val="F8FAFC"/>
                    </a:solidFill>
                  </a:tcPr>
                </a:tc>
                <a:tc>
                  <a:txBody>
                    <a:bodyPr wrap="square"/>
                    <a:lstStyle/>
                    <a:p>
                      <a:r>
                        <a:rPr sz="1300" b="0" i="0">
                          <a:solidFill>
                            <a:srgbClr val="0F172A"/>
                          </a:solidFill>
                          <a:latin typeface="Segoe UI"/>
                        </a:rPr>
                        <a:t>PySpark, Pandas, PyArrow</a:t>
                      </a:r>
                    </a:p>
                  </a:txBody>
                  <a:tcPr marL="73152" marR="73152" marT="36576" marB="36576" anchor="ctr">
                    <a:solidFill>
                      <a:srgbClr val="F8FAFC"/>
                    </a:solidFill>
                  </a:tcPr>
                </a:tc>
              </a:tr>
              <a:tr h="347472">
                <a:tc>
                  <a:txBody>
                    <a:bodyPr wrap="square"/>
                    <a:lstStyle/>
                    <a:p>
                      <a:r>
                        <a:rPr sz="1300" b="0" i="0">
                          <a:solidFill>
                            <a:srgbClr val="0F172A"/>
                          </a:solidFill>
                          <a:latin typeface="Segoe UI"/>
                        </a:rPr>
                        <a:t>Backend</a:t>
                      </a:r>
                    </a:p>
                  </a:txBody>
                  <a:tcPr marL="73152" marR="73152" marT="36576" marB="36576" anchor="ctr">
                    <a:solidFill>
                      <a:srgbClr val="FFFFFF"/>
                    </a:solidFill>
                  </a:tcPr>
                </a:tc>
                <a:tc>
                  <a:txBody>
                    <a:bodyPr wrap="square"/>
                    <a:lstStyle/>
                    <a:p>
                      <a:r>
                        <a:rPr sz="1300" b="0" i="0">
                          <a:solidFill>
                            <a:srgbClr val="0F172A"/>
                          </a:solidFill>
                          <a:latin typeface="Segoe UI"/>
                        </a:rPr>
                        <a:t>FastAPI, Uvicorn (REST + Server-Sent Events, 26 endpoints)</a:t>
                      </a:r>
                    </a:p>
                  </a:txBody>
                  <a:tcPr marL="73152" marR="73152" marT="36576" marB="36576" anchor="ctr">
                    <a:solidFill>
                      <a:srgbClr val="FFFFFF"/>
                    </a:solidFill>
                  </a:tcPr>
                </a:tc>
              </a:tr>
              <a:tr h="347472">
                <a:tc>
                  <a:txBody>
                    <a:bodyPr wrap="square"/>
                    <a:lstStyle/>
                    <a:p>
                      <a:r>
                        <a:rPr sz="1300" b="0" i="0">
                          <a:solidFill>
                            <a:srgbClr val="0F172A"/>
                          </a:solidFill>
                          <a:latin typeface="Segoe UI"/>
                        </a:rPr>
                        <a:t>Front end</a:t>
                      </a:r>
                    </a:p>
                  </a:txBody>
                  <a:tcPr marL="73152" marR="73152" marT="36576" marB="36576" anchor="ctr">
                    <a:solidFill>
                      <a:srgbClr val="F8FAFC"/>
                    </a:solidFill>
                  </a:tcPr>
                </a:tc>
                <a:tc>
                  <a:txBody>
                    <a:bodyPr wrap="square"/>
                    <a:lstStyle/>
                    <a:p>
                      <a:r>
                        <a:rPr sz="1300" b="0" i="0">
                          <a:solidFill>
                            <a:srgbClr val="0F172A"/>
                          </a:solidFill>
                          <a:latin typeface="Segoe UI"/>
                        </a:rPr>
                        <a:t>Streamlit, Plotly</a:t>
                      </a:r>
                    </a:p>
                  </a:txBody>
                  <a:tcPr marL="73152" marR="73152" marT="36576" marB="36576" anchor="ctr">
                    <a:solidFill>
                      <a:srgbClr val="F8FAFC"/>
                    </a:solidFill>
                  </a:tcPr>
                </a:tc>
              </a:tr>
              <a:tr h="347472">
                <a:tc>
                  <a:txBody>
                    <a:bodyPr wrap="square"/>
                    <a:lstStyle/>
                    <a:p>
                      <a:r>
                        <a:rPr sz="1300" b="0" i="0">
                          <a:solidFill>
                            <a:srgbClr val="0F172A"/>
                          </a:solidFill>
                          <a:latin typeface="Segoe UI"/>
                        </a:rPr>
                        <a:t>Storage</a:t>
                      </a:r>
                    </a:p>
                  </a:txBody>
                  <a:tcPr marL="73152" marR="73152" marT="36576" marB="36576" anchor="ctr">
                    <a:solidFill>
                      <a:srgbClr val="FFFFFF"/>
                    </a:solidFill>
                  </a:tcPr>
                </a:tc>
                <a:tc>
                  <a:txBody>
                    <a:bodyPr wrap="square"/>
                    <a:lstStyle/>
                    <a:p>
                      <a:r>
                        <a:rPr sz="1300" b="0" i="0">
                          <a:solidFill>
                            <a:srgbClr val="0F172A"/>
                          </a:solidFill>
                          <a:latin typeface="Segoe UI"/>
                        </a:rPr>
                        <a:t>SQLite: accounts, saved conversations (LangGraph SqliteSaver), feedback</a:t>
                      </a:r>
                    </a:p>
                  </a:txBody>
                  <a:tcPr marL="73152" marR="73152" marT="36576" marB="36576" anchor="ctr">
                    <a:solidFill>
                      <a:srgbClr val="FFFFFF"/>
                    </a:solidFill>
                  </a:tcPr>
                </a:tc>
              </a:tr>
              <a:tr h="347472">
                <a:tc>
                  <a:txBody>
                    <a:bodyPr wrap="square"/>
                    <a:lstStyle/>
                    <a:p>
                      <a:r>
                        <a:rPr sz="1300" b="0" i="0">
                          <a:solidFill>
                            <a:srgbClr val="0F172A"/>
                          </a:solidFill>
                          <a:latin typeface="Segoe UI"/>
                        </a:rPr>
                        <a:t>Evaluation</a:t>
                      </a:r>
                    </a:p>
                  </a:txBody>
                  <a:tcPr marL="73152" marR="73152" marT="36576" marB="36576" anchor="ctr">
                    <a:solidFill>
                      <a:srgbClr val="F8FAFC"/>
                    </a:solidFill>
                  </a:tcPr>
                </a:tc>
                <a:tc>
                  <a:txBody>
                    <a:bodyPr wrap="square"/>
                    <a:lstStyle/>
                    <a:p>
                      <a:r>
                        <a:rPr sz="1300" b="0" i="0">
                          <a:solidFill>
                            <a:srgbClr val="0F172A"/>
                          </a:solidFill>
                          <a:latin typeface="Segoe UI"/>
                        </a:rPr>
                        <a:t>DeepEval, LLM-as-Judge, pytest</a:t>
                      </a:r>
                    </a:p>
                  </a:txBody>
                  <a:tcPr marL="73152" marR="73152" marT="36576" marB="36576" anchor="ctr">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FINDING SIMILAR PAST INCIDENTS</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Retrieval strategy: hybrid RAG</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7</a:t>
            </a:r>
          </a:p>
        </p:txBody>
      </p:sp>
      <p:sp>
        <p:nvSpPr>
          <p:cNvPr id="7" name="Rounded Rectangle 6"/>
          <p:cNvSpPr/>
          <p:nvPr/>
        </p:nvSpPr>
        <p:spPr>
          <a:xfrm>
            <a:off x="548640" y="2240280"/>
            <a:ext cx="1737360"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67712"/>
            <a:ext cx="164592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Query</a:t>
            </a:r>
          </a:p>
          <a:p>
            <a:pPr algn="ctr">
              <a:spcAft>
                <a:spcPts val="0"/>
              </a:spcAft>
            </a:pPr>
            <a:r>
              <a:rPr sz="1150" b="0" i="0">
                <a:solidFill>
                  <a:srgbClr val="475569"/>
                </a:solidFill>
                <a:latin typeface="Segoe UI"/>
              </a:rPr>
              <a:t>e.g. SSH brute force</a:t>
            </a:r>
          </a:p>
        </p:txBody>
      </p:sp>
      <p:sp>
        <p:nvSpPr>
          <p:cNvPr id="9" name="Rounded Rectangle 8"/>
          <p:cNvSpPr/>
          <p:nvPr/>
        </p:nvSpPr>
        <p:spPr>
          <a:xfrm>
            <a:off x="2743200" y="1645920"/>
            <a:ext cx="2148840" cy="86868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1673352"/>
            <a:ext cx="2057400"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Keyword search</a:t>
            </a:r>
          </a:p>
          <a:p>
            <a:pPr algn="ctr">
              <a:spcAft>
                <a:spcPts val="0"/>
              </a:spcAft>
            </a:pPr>
            <a:r>
              <a:rPr sz="1150" b="0" i="0">
                <a:solidFill>
                  <a:srgbClr val="475569"/>
                </a:solidFill>
                <a:latin typeface="Segoe UI"/>
              </a:rPr>
              <a:t>BM25: exact words, labels</a:t>
            </a:r>
          </a:p>
        </p:txBody>
      </p:sp>
      <p:sp>
        <p:nvSpPr>
          <p:cNvPr id="11" name="Rounded Rectangle 10"/>
          <p:cNvSpPr/>
          <p:nvPr/>
        </p:nvSpPr>
        <p:spPr>
          <a:xfrm>
            <a:off x="2743200" y="2880360"/>
            <a:ext cx="2148840" cy="86868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88920" y="2907792"/>
            <a:ext cx="2057400"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Semantic search</a:t>
            </a:r>
          </a:p>
          <a:p>
            <a:pPr algn="ctr">
              <a:spcAft>
                <a:spcPts val="0"/>
              </a:spcAft>
            </a:pPr>
            <a:r>
              <a:rPr sz="1150" b="0" i="0">
                <a:solidFill>
                  <a:srgbClr val="475569"/>
                </a:solidFill>
                <a:latin typeface="Segoe UI"/>
              </a:rPr>
              <a:t>MiniLM vectors in ChromaDB</a:t>
            </a:r>
          </a:p>
        </p:txBody>
      </p:sp>
      <p:sp>
        <p:nvSpPr>
          <p:cNvPr id="13" name="Rounded Rectangle 12"/>
          <p:cNvSpPr/>
          <p:nvPr/>
        </p:nvSpPr>
        <p:spPr>
          <a:xfrm>
            <a:off x="5349240" y="2240280"/>
            <a:ext cx="1920240" cy="91440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94960" y="2267712"/>
            <a:ext cx="18288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Fusion</a:t>
            </a:r>
          </a:p>
          <a:p>
            <a:pPr algn="ctr">
              <a:spcAft>
                <a:spcPts val="0"/>
              </a:spcAft>
            </a:pPr>
            <a:r>
              <a:rPr sz="1150" b="0" i="0">
                <a:solidFill>
                  <a:srgbClr val="475569"/>
                </a:solidFill>
                <a:latin typeface="Segoe UI"/>
              </a:rPr>
              <a:t>Reciprocal Rank</a:t>
            </a:r>
          </a:p>
          <a:p>
            <a:pPr algn="ctr">
              <a:spcAft>
                <a:spcPts val="0"/>
              </a:spcAft>
            </a:pPr>
            <a:r>
              <a:rPr sz="1150" b="0" i="0">
                <a:solidFill>
                  <a:srgbClr val="475569"/>
                </a:solidFill>
                <a:latin typeface="Segoe UI"/>
              </a:rPr>
              <a:t>Fusion (k = 60)</a:t>
            </a:r>
          </a:p>
        </p:txBody>
      </p:sp>
      <p:sp>
        <p:nvSpPr>
          <p:cNvPr id="15" name="Rounded Rectangle 14"/>
          <p:cNvSpPr/>
          <p:nvPr/>
        </p:nvSpPr>
        <p:spPr>
          <a:xfrm>
            <a:off x="7726679" y="2240280"/>
            <a:ext cx="1920240" cy="91440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399" y="2267712"/>
            <a:ext cx="18288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Hard filters</a:t>
            </a:r>
          </a:p>
          <a:p>
            <a:pPr algn="ctr">
              <a:spcAft>
                <a:spcPts val="0"/>
              </a:spcAft>
            </a:pPr>
            <a:r>
              <a:rPr sz="1150" b="0" i="0">
                <a:solidFill>
                  <a:srgbClr val="475569"/>
                </a:solidFill>
                <a:latin typeface="Segoe UI"/>
              </a:rPr>
              <a:t>attack type, port, numeric</a:t>
            </a:r>
          </a:p>
        </p:txBody>
      </p:sp>
      <p:sp>
        <p:nvSpPr>
          <p:cNvPr id="17" name="Rounded Rectangle 16"/>
          <p:cNvSpPr/>
          <p:nvPr/>
        </p:nvSpPr>
        <p:spPr>
          <a:xfrm>
            <a:off x="10104120" y="2240280"/>
            <a:ext cx="1536192" cy="91440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0" y="2267712"/>
            <a:ext cx="1444752"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Top 5</a:t>
            </a:r>
          </a:p>
          <a:p>
            <a:pPr algn="ctr">
              <a:spcAft>
                <a:spcPts val="0"/>
              </a:spcAft>
            </a:pPr>
            <a:r>
              <a:rPr sz="1150" b="0" i="0">
                <a:solidFill>
                  <a:srgbClr val="475569"/>
                </a:solidFill>
                <a:latin typeface="Segoe UI"/>
              </a:rPr>
              <a:t>cited incidents</a:t>
            </a:r>
          </a:p>
        </p:txBody>
      </p:sp>
      <p:cxnSp>
        <p:nvCxnSpPr>
          <p:cNvPr id="19" name="Connector 18"/>
          <p:cNvCxnSpPr/>
          <p:nvPr/>
        </p:nvCxnSpPr>
        <p:spPr>
          <a:xfrm>
            <a:off x="2286000" y="269748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514600" y="2080260"/>
            <a:ext cx="0" cy="6172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14600" y="208026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286000" y="269748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514600" y="2697480"/>
            <a:ext cx="0" cy="6172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514600" y="331470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892040" y="208026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0640" y="2080260"/>
            <a:ext cx="0" cy="6172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120640" y="269748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892040" y="331470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5120640" y="2697480"/>
            <a:ext cx="0" cy="6172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120640" y="269748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69480" y="2697480"/>
            <a:ext cx="457199"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646920" y="2697480"/>
            <a:ext cx="4572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3" name="Table 32"/>
          <p:cNvGraphicFramePr>
            <a:graphicFrameLocks noGrp="1"/>
          </p:cNvGraphicFramePr>
          <p:nvPr/>
        </p:nvGraphicFramePr>
        <p:xfrm>
          <a:off x="548640" y="4206240"/>
          <a:ext cx="5486398" cy="1536192"/>
        </p:xfrm>
        <a:graphic>
          <a:graphicData uri="http://schemas.openxmlformats.org/drawingml/2006/table">
            <a:tbl>
              <a:tblPr firstRow="1" bandRow="1">
                <a:tableStyleId>{5C22544A-7EE6-4342-B048-85BDC9FD1C3A}</a:tableStyleId>
              </a:tblPr>
              <a:tblGrid>
                <a:gridCol w="2417735"/>
                <a:gridCol w="929898"/>
                <a:gridCol w="1208867"/>
                <a:gridCol w="929898"/>
              </a:tblGrid>
              <a:tr h="384048">
                <a:tc>
                  <a:txBody>
                    <a:bodyPr wrap="square"/>
                    <a:lstStyle/>
                    <a:p>
                      <a:r>
                        <a:rPr sz="1300" b="1" i="0">
                          <a:solidFill>
                            <a:srgbClr val="1E3A8A"/>
                          </a:solidFill>
                          <a:latin typeface="Segoe UI"/>
                        </a:rPr>
                        <a:t>Method (12 labelled queries)</a:t>
                      </a:r>
                    </a:p>
                  </a:txBody>
                  <a:tcPr marL="73152" marR="73152" marT="36576" marB="36576" anchor="ctr">
                    <a:solidFill>
                      <a:srgbClr val="EFF6FF"/>
                    </a:solidFill>
                  </a:tcPr>
                </a:tc>
                <a:tc>
                  <a:txBody>
                    <a:bodyPr wrap="square"/>
                    <a:lstStyle/>
                    <a:p>
                      <a:r>
                        <a:rPr sz="1300" b="1" i="0">
                          <a:solidFill>
                            <a:srgbClr val="1E3A8A"/>
                          </a:solidFill>
                          <a:latin typeface="Segoe UI"/>
                        </a:rPr>
                        <a:t>Hit@5</a:t>
                      </a:r>
                    </a:p>
                  </a:txBody>
                  <a:tcPr marL="73152" marR="73152" marT="36576" marB="36576" anchor="ctr">
                    <a:solidFill>
                      <a:srgbClr val="EFF6FF"/>
                    </a:solidFill>
                  </a:tcPr>
                </a:tc>
                <a:tc>
                  <a:txBody>
                    <a:bodyPr wrap="square"/>
                    <a:lstStyle/>
                    <a:p>
                      <a:r>
                        <a:rPr sz="1300" b="1" i="0">
                          <a:solidFill>
                            <a:srgbClr val="1E3A8A"/>
                          </a:solidFill>
                          <a:latin typeface="Segoe UI"/>
                        </a:rPr>
                        <a:t>Precision@5</a:t>
                      </a:r>
                    </a:p>
                  </a:txBody>
                  <a:tcPr marL="73152" marR="73152" marT="36576" marB="36576" anchor="ctr">
                    <a:solidFill>
                      <a:srgbClr val="EFF6FF"/>
                    </a:solidFill>
                  </a:tcPr>
                </a:tc>
                <a:tc>
                  <a:txBody>
                    <a:bodyPr wrap="square"/>
                    <a:lstStyle/>
                    <a:p>
                      <a:r>
                        <a:rPr sz="1300" b="1" i="0">
                          <a:solidFill>
                            <a:srgbClr val="1E3A8A"/>
                          </a:solidFill>
                          <a:latin typeface="Segoe UI"/>
                        </a:rPr>
                        <a:t>MRR</a:t>
                      </a:r>
                    </a:p>
                  </a:txBody>
                  <a:tcPr marL="73152" marR="73152" marT="36576" marB="36576" anchor="ctr">
                    <a:solidFill>
                      <a:srgbClr val="EFF6FF"/>
                    </a:solidFill>
                  </a:tcPr>
                </a:tc>
              </a:tr>
              <a:tr h="384048">
                <a:tc>
                  <a:txBody>
                    <a:bodyPr wrap="square"/>
                    <a:lstStyle/>
                    <a:p>
                      <a:r>
                        <a:rPr sz="1300" b="0" i="0">
                          <a:solidFill>
                            <a:srgbClr val="0F172A"/>
                          </a:solidFill>
                          <a:latin typeface="Segoe UI"/>
                        </a:rPr>
                        <a:t>BM25 keyword</a:t>
                      </a:r>
                    </a:p>
                  </a:txBody>
                  <a:tcPr marL="73152" marR="73152" marT="36576" marB="36576" anchor="ctr">
                    <a:solidFill>
                      <a:srgbClr val="FFFFFF"/>
                    </a:solidFill>
                  </a:tcPr>
                </a:tc>
                <a:tc>
                  <a:txBody>
                    <a:bodyPr wrap="square"/>
                    <a:lstStyle/>
                    <a:p>
                      <a:r>
                        <a:rPr sz="1300" b="0" i="0">
                          <a:solidFill>
                            <a:srgbClr val="0F172A"/>
                          </a:solidFill>
                          <a:latin typeface="Segoe UI"/>
                        </a:rPr>
                        <a:t>0.583</a:t>
                      </a:r>
                    </a:p>
                  </a:txBody>
                  <a:tcPr marL="73152" marR="73152" marT="36576" marB="36576" anchor="ctr">
                    <a:solidFill>
                      <a:srgbClr val="FFFFFF"/>
                    </a:solidFill>
                  </a:tcPr>
                </a:tc>
                <a:tc>
                  <a:txBody>
                    <a:bodyPr wrap="square"/>
                    <a:lstStyle/>
                    <a:p>
                      <a:r>
                        <a:rPr sz="1300" b="0" i="0">
                          <a:solidFill>
                            <a:srgbClr val="0F172A"/>
                          </a:solidFill>
                          <a:latin typeface="Segoe UI"/>
                        </a:rPr>
                        <a:t>0.567</a:t>
                      </a:r>
                    </a:p>
                  </a:txBody>
                  <a:tcPr marL="73152" marR="73152" marT="36576" marB="36576" anchor="ctr">
                    <a:solidFill>
                      <a:srgbClr val="FFFFFF"/>
                    </a:solidFill>
                  </a:tcPr>
                </a:tc>
                <a:tc>
                  <a:txBody>
                    <a:bodyPr wrap="square"/>
                    <a:lstStyle/>
                    <a:p>
                      <a:r>
                        <a:rPr sz="1300" b="0" i="0">
                          <a:solidFill>
                            <a:srgbClr val="0F172A"/>
                          </a:solidFill>
                          <a:latin typeface="Segoe UI"/>
                        </a:rPr>
                        <a:t>0.583</a:t>
                      </a:r>
                    </a:p>
                  </a:txBody>
                  <a:tcPr marL="73152" marR="73152" marT="36576" marB="36576" anchor="ctr">
                    <a:solidFill>
                      <a:srgbClr val="FFFFFF"/>
                    </a:solidFill>
                  </a:tcPr>
                </a:tc>
              </a:tr>
              <a:tr h="384048">
                <a:tc>
                  <a:txBody>
                    <a:bodyPr wrap="square"/>
                    <a:lstStyle/>
                    <a:p>
                      <a:r>
                        <a:rPr sz="1300" b="0" i="0">
                          <a:solidFill>
                            <a:srgbClr val="0F172A"/>
                          </a:solidFill>
                          <a:latin typeface="Segoe UI"/>
                        </a:rPr>
                        <a:t>Vector (semantic)</a:t>
                      </a:r>
                    </a:p>
                  </a:txBody>
                  <a:tcPr marL="73152" marR="73152" marT="36576" marB="36576" anchor="ctr">
                    <a:solidFill>
                      <a:srgbClr val="F8FAFC"/>
                    </a:solidFill>
                  </a:tcPr>
                </a:tc>
                <a:tc>
                  <a:txBody>
                    <a:bodyPr wrap="square"/>
                    <a:lstStyle/>
                    <a:p>
                      <a:r>
                        <a:rPr sz="1300" b="0" i="0">
                          <a:solidFill>
                            <a:srgbClr val="0F172A"/>
                          </a:solidFill>
                          <a:latin typeface="Segoe UI"/>
                        </a:rPr>
                        <a:t>0.833</a:t>
                      </a:r>
                    </a:p>
                  </a:txBody>
                  <a:tcPr marL="73152" marR="73152" marT="36576" marB="36576" anchor="ctr">
                    <a:solidFill>
                      <a:srgbClr val="F8FAFC"/>
                    </a:solidFill>
                  </a:tcPr>
                </a:tc>
                <a:tc>
                  <a:txBody>
                    <a:bodyPr wrap="square"/>
                    <a:lstStyle/>
                    <a:p>
                      <a:r>
                        <a:rPr sz="1300" b="1" i="0">
                          <a:solidFill>
                            <a:srgbClr val="0F172A"/>
                          </a:solidFill>
                          <a:latin typeface="Segoe UI"/>
                        </a:rPr>
                        <a:t>0.833</a:t>
                      </a:r>
                    </a:p>
                  </a:txBody>
                  <a:tcPr marL="73152" marR="73152" marT="36576" marB="36576" anchor="ctr">
                    <a:solidFill>
                      <a:srgbClr val="F8FAFC"/>
                    </a:solidFill>
                  </a:tcPr>
                </a:tc>
                <a:tc>
                  <a:txBody>
                    <a:bodyPr wrap="square"/>
                    <a:lstStyle/>
                    <a:p>
                      <a:r>
                        <a:rPr sz="1300" b="1" i="0">
                          <a:solidFill>
                            <a:srgbClr val="0F172A"/>
                          </a:solidFill>
                          <a:latin typeface="Segoe UI"/>
                        </a:rPr>
                        <a:t>0.833</a:t>
                      </a:r>
                    </a:p>
                  </a:txBody>
                  <a:tcPr marL="73152" marR="73152" marT="36576" marB="36576" anchor="ctr">
                    <a:solidFill>
                      <a:srgbClr val="F8FAFC"/>
                    </a:solidFill>
                  </a:tcPr>
                </a:tc>
              </a:tr>
              <a:tr h="384048">
                <a:tc>
                  <a:txBody>
                    <a:bodyPr wrap="square"/>
                    <a:lstStyle/>
                    <a:p>
                      <a:r>
                        <a:rPr sz="1300" b="1" i="0">
                          <a:solidFill>
                            <a:srgbClr val="0F172A"/>
                          </a:solidFill>
                          <a:latin typeface="Segoe UI"/>
                        </a:rPr>
                        <a:t>Hybrid (RRF)</a:t>
                      </a:r>
                    </a:p>
                  </a:txBody>
                  <a:tcPr marL="73152" marR="73152" marT="36576" marB="36576" anchor="ctr">
                    <a:solidFill>
                      <a:srgbClr val="FFFFFF"/>
                    </a:solidFill>
                  </a:tcPr>
                </a:tc>
                <a:tc>
                  <a:txBody>
                    <a:bodyPr wrap="square"/>
                    <a:lstStyle/>
                    <a:p>
                      <a:r>
                        <a:rPr sz="1300" b="1" i="0">
                          <a:solidFill>
                            <a:srgbClr val="0F172A"/>
                          </a:solidFill>
                          <a:latin typeface="Segoe UI"/>
                        </a:rPr>
                        <a:t>0.917</a:t>
                      </a:r>
                    </a:p>
                  </a:txBody>
                  <a:tcPr marL="73152" marR="73152" marT="36576" marB="36576" anchor="ctr">
                    <a:solidFill>
                      <a:srgbClr val="FFFFFF"/>
                    </a:solidFill>
                  </a:tcPr>
                </a:tc>
                <a:tc>
                  <a:txBody>
                    <a:bodyPr wrap="square"/>
                    <a:lstStyle/>
                    <a:p>
                      <a:r>
                        <a:rPr sz="1300" b="0" i="0">
                          <a:solidFill>
                            <a:srgbClr val="0F172A"/>
                          </a:solidFill>
                          <a:latin typeface="Segoe UI"/>
                        </a:rPr>
                        <a:t>0.733</a:t>
                      </a:r>
                    </a:p>
                  </a:txBody>
                  <a:tcPr marL="73152" marR="73152" marT="36576" marB="36576" anchor="ctr">
                    <a:solidFill>
                      <a:srgbClr val="FFFFFF"/>
                    </a:solidFill>
                  </a:tcPr>
                </a:tc>
                <a:tc>
                  <a:txBody>
                    <a:bodyPr wrap="square"/>
                    <a:lstStyle/>
                    <a:p>
                      <a:r>
                        <a:rPr sz="1300" b="0" i="0">
                          <a:solidFill>
                            <a:srgbClr val="0F172A"/>
                          </a:solidFill>
                          <a:latin typeface="Segoe UI"/>
                        </a:rPr>
                        <a:t>0.792</a:t>
                      </a:r>
                    </a:p>
                  </a:txBody>
                  <a:tcPr marL="73152" marR="73152" marT="36576" marB="36576" anchor="ctr">
                    <a:solidFill>
                      <a:srgbClr val="FFFFFF"/>
                    </a:solidFill>
                  </a:tcPr>
                </a:tc>
              </a:tr>
            </a:tbl>
          </a:graphicData>
        </a:graphic>
      </p:graphicFrame>
      <p:sp>
        <p:nvSpPr>
          <p:cNvPr id="34" name="TextBox 33"/>
          <p:cNvSpPr txBox="1"/>
          <p:nvPr/>
        </p:nvSpPr>
        <p:spPr>
          <a:xfrm>
            <a:off x="6400800" y="4160520"/>
            <a:ext cx="5239512" cy="2011680"/>
          </a:xfrm>
          <a:prstGeom prst="rect">
            <a:avLst/>
          </a:prstGeom>
          <a:noFill/>
        </p:spPr>
        <p:txBody>
          <a:bodyPr wrap="square" anchor="t" lIns="45720" rIns="45720" tIns="27432" bIns="27432">
            <a:spAutoFit/>
          </a:bodyPr>
          <a:lstStyle/>
          <a:p>
            <a:pPr algn="l">
              <a:spcAft>
                <a:spcPts val="800"/>
              </a:spcAft>
            </a:pPr>
            <a:r>
              <a:rPr sz="1400" b="1" i="0">
                <a:solidFill>
                  <a:srgbClr val="2563EB"/>
                </a:solidFill>
                <a:latin typeface="Segoe UI"/>
              </a:rPr>
              <a:t>•  </a:t>
            </a:r>
            <a:r>
              <a:rPr sz="1400" b="0" i="0">
                <a:solidFill>
                  <a:srgbClr val="0F172A"/>
                </a:solidFill>
                <a:latin typeface="Segoe UI"/>
              </a:rPr>
              <a:t>Each incident is one flow written as a short text (one chunk)</a:t>
            </a:r>
          </a:p>
          <a:p>
            <a:pPr algn="l">
              <a:spcAft>
                <a:spcPts val="800"/>
              </a:spcAft>
            </a:pPr>
            <a:r>
              <a:rPr sz="1400" b="1" i="0">
                <a:solidFill>
                  <a:srgbClr val="2563EB"/>
                </a:solidFill>
                <a:latin typeface="Segoe UI"/>
              </a:rPr>
              <a:t>•  </a:t>
            </a:r>
            <a:r>
              <a:rPr sz="1400" b="0" i="0">
                <a:solidFill>
                  <a:srgbClr val="0F172A"/>
                </a:solidFill>
                <a:latin typeface="Segoe UI"/>
              </a:rPr>
              <a:t>Agents set the filters: 'SSH brute force' → </a:t>
            </a:r>
            <a:r>
              <a:rPr sz="1400" b="1" i="0">
                <a:solidFill>
                  <a:srgbClr val="0F172A"/>
                </a:solidFill>
                <a:latin typeface="Segoe UI"/>
              </a:rPr>
              <a:t>SSH-Patator</a:t>
            </a:r>
          </a:p>
          <a:p>
            <a:pPr algn="l">
              <a:spcAft>
                <a:spcPts val="800"/>
              </a:spcAft>
            </a:pPr>
            <a:r>
              <a:rPr sz="1400" b="1" i="0">
                <a:solidFill>
                  <a:srgbClr val="2563EB"/>
                </a:solidFill>
                <a:latin typeface="Segoe UI"/>
              </a:rPr>
              <a:t>•  </a:t>
            </a:r>
            <a:r>
              <a:rPr sz="1400" b="0" i="0">
                <a:solidFill>
                  <a:srgbClr val="0F172A"/>
                </a:solidFill>
                <a:latin typeface="Segoe UI"/>
              </a:rPr>
              <a:t>Numbers in the question become filters: 'more than 10000 packets per second'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CLASSIFY, SCORE, EXPLAIN, PRIORITISE</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Machine-learning models</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8</a:t>
            </a:r>
          </a:p>
        </p:txBody>
      </p:sp>
      <p:sp>
        <p:nvSpPr>
          <p:cNvPr id="7" name="Rounded Rectangle 6"/>
          <p:cNvSpPr/>
          <p:nvPr/>
        </p:nvSpPr>
        <p:spPr>
          <a:xfrm>
            <a:off x="548640" y="2057400"/>
            <a:ext cx="2011680" cy="146304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084832"/>
            <a:ext cx="1920240" cy="140817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Flow metrics</a:t>
            </a:r>
          </a:p>
          <a:p>
            <a:pPr algn="ctr">
              <a:spcAft>
                <a:spcPts val="0"/>
              </a:spcAft>
            </a:pPr>
            <a:r>
              <a:rPr sz="1150" b="0" i="0">
                <a:solidFill>
                  <a:srgbClr val="475569"/>
                </a:solidFill>
                <a:latin typeface="Segoe UI"/>
              </a:rPr>
              <a:t>any of the 24</a:t>
            </a:r>
          </a:p>
          <a:p>
            <a:pPr algn="ctr">
              <a:spcAft>
                <a:spcPts val="0"/>
              </a:spcAft>
            </a:pPr>
            <a:r>
              <a:rPr sz="1150" b="0" i="0">
                <a:solidFill>
                  <a:srgbClr val="475569"/>
                </a:solidFill>
                <a:latin typeface="Segoe UI"/>
              </a:rPr>
              <a:t>missing → filled + flagged</a:t>
            </a:r>
          </a:p>
        </p:txBody>
      </p:sp>
      <p:sp>
        <p:nvSpPr>
          <p:cNvPr id="9" name="Rounded Rectangle 8"/>
          <p:cNvSpPr/>
          <p:nvPr/>
        </p:nvSpPr>
        <p:spPr>
          <a:xfrm>
            <a:off x="3017520" y="1645920"/>
            <a:ext cx="2743200" cy="73152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673352"/>
            <a:ext cx="2651760" cy="67665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Attack type</a:t>
            </a:r>
          </a:p>
          <a:p>
            <a:pPr algn="ctr">
              <a:spcAft>
                <a:spcPts val="0"/>
              </a:spcAft>
            </a:pPr>
            <a:r>
              <a:rPr sz="1150" b="0" i="0">
                <a:solidFill>
                  <a:srgbClr val="475569"/>
                </a:solidFill>
                <a:latin typeface="Segoe UI"/>
              </a:rPr>
              <a:t>Random Forest, 15 classes</a:t>
            </a:r>
          </a:p>
        </p:txBody>
      </p:sp>
      <p:cxnSp>
        <p:nvCxnSpPr>
          <p:cNvPr id="11" name="Connector 10"/>
          <p:cNvCxnSpPr/>
          <p:nvPr/>
        </p:nvCxnSpPr>
        <p:spPr>
          <a:xfrm>
            <a:off x="2560320" y="278892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788920" y="2011680"/>
            <a:ext cx="0" cy="77724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788920" y="201168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760720" y="2011680"/>
            <a:ext cx="27432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35040" y="2011680"/>
            <a:ext cx="0" cy="77724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35040" y="278892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17520" y="2514600"/>
            <a:ext cx="2743200" cy="73152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63240" y="2542032"/>
            <a:ext cx="2651760" cy="67665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Intrusion risk</a:t>
            </a:r>
          </a:p>
          <a:p>
            <a:pPr algn="ctr">
              <a:spcAft>
                <a:spcPts val="0"/>
              </a:spcAft>
            </a:pPr>
            <a:r>
              <a:rPr sz="1150" b="0" i="0">
                <a:solidFill>
                  <a:srgbClr val="475569"/>
                </a:solidFill>
                <a:latin typeface="Segoe UI"/>
              </a:rPr>
              <a:t>gradient boosting, calibrated</a:t>
            </a:r>
          </a:p>
        </p:txBody>
      </p:sp>
      <p:cxnSp>
        <p:nvCxnSpPr>
          <p:cNvPr id="19" name="Connector 18"/>
          <p:cNvCxnSpPr/>
          <p:nvPr/>
        </p:nvCxnSpPr>
        <p:spPr>
          <a:xfrm>
            <a:off x="2560320" y="278892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788920" y="2788920"/>
            <a:ext cx="0" cy="9144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88920" y="288036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760720" y="2880360"/>
            <a:ext cx="27432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035040" y="2788920"/>
            <a:ext cx="0" cy="9144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35040" y="278892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017520" y="3383280"/>
            <a:ext cx="2743200" cy="73152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63240" y="3410712"/>
            <a:ext cx="2651760" cy="676656"/>
          </a:xfrm>
          <a:prstGeom prst="rect">
            <a:avLst/>
          </a:prstGeom>
          <a:noFill/>
        </p:spPr>
        <p:txBody>
          <a:bodyPr wrap="square" anchor="ctr" lIns="45720" rIns="45720" tIns="27432" bIns="27432">
            <a:spAutoFit/>
          </a:bodyPr>
          <a:lstStyle/>
          <a:p>
            <a:pPr algn="ctr">
              <a:spcAft>
                <a:spcPts val="200"/>
              </a:spcAft>
            </a:pPr>
            <a:r>
              <a:rPr sz="1350" b="1" i="0">
                <a:solidFill>
                  <a:srgbClr val="0F172A"/>
                </a:solidFill>
                <a:latin typeface="Segoe UI"/>
              </a:rPr>
              <a:t>Anomaly</a:t>
            </a:r>
          </a:p>
          <a:p>
            <a:pPr algn="ctr">
              <a:spcAft>
                <a:spcPts val="0"/>
              </a:spcAft>
            </a:pPr>
            <a:r>
              <a:rPr sz="1150" b="0" i="0">
                <a:solidFill>
                  <a:srgbClr val="475569"/>
                </a:solidFill>
                <a:latin typeface="Segoe UI"/>
              </a:rPr>
              <a:t>Isolation Forest, normal traffic</a:t>
            </a:r>
          </a:p>
        </p:txBody>
      </p:sp>
      <p:cxnSp>
        <p:nvCxnSpPr>
          <p:cNvPr id="27" name="Connector 26"/>
          <p:cNvCxnSpPr/>
          <p:nvPr/>
        </p:nvCxnSpPr>
        <p:spPr>
          <a:xfrm>
            <a:off x="2560320" y="2788920"/>
            <a:ext cx="22860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788920" y="2788920"/>
            <a:ext cx="0" cy="9601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788920" y="374904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760720" y="3749040"/>
            <a:ext cx="274320"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035040" y="2788920"/>
            <a:ext cx="0" cy="9601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035040" y="278892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309360" y="2057400"/>
            <a:ext cx="2468880" cy="146304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55080" y="2084832"/>
            <a:ext cx="2377440" cy="140817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Prioritiser</a:t>
            </a:r>
          </a:p>
          <a:p>
            <a:pPr algn="ctr">
              <a:spcAft>
                <a:spcPts val="0"/>
              </a:spcAft>
            </a:pPr>
            <a:r>
              <a:rPr sz="1150" b="0" i="0">
                <a:solidFill>
                  <a:srgbClr val="475569"/>
                </a:solidFill>
                <a:latin typeface="Segoe UI"/>
              </a:rPr>
              <a:t>0.45 risk + 0.35 severity</a:t>
            </a:r>
          </a:p>
          <a:p>
            <a:pPr algn="ctr">
              <a:spcAft>
                <a:spcPts val="0"/>
              </a:spcAft>
            </a:pPr>
            <a:r>
              <a:rPr sz="1150" b="0" i="0">
                <a:solidFill>
                  <a:srgbClr val="475569"/>
                </a:solidFill>
                <a:latin typeface="Segoe UI"/>
              </a:rPr>
              <a:t>+ 0.20 anomaly</a:t>
            </a:r>
          </a:p>
          <a:p>
            <a:pPr algn="ctr">
              <a:spcAft>
                <a:spcPts val="0"/>
              </a:spcAft>
            </a:pPr>
            <a:r>
              <a:rPr sz="1150" b="0" i="0">
                <a:solidFill>
                  <a:srgbClr val="475569"/>
                </a:solidFill>
                <a:latin typeface="Segoe UI"/>
              </a:rPr>
              <a:t>+ safety rules</a:t>
            </a:r>
          </a:p>
        </p:txBody>
      </p:sp>
      <p:sp>
        <p:nvSpPr>
          <p:cNvPr id="35" name="Rounded Rectangle 34"/>
          <p:cNvSpPr/>
          <p:nvPr/>
        </p:nvSpPr>
        <p:spPr>
          <a:xfrm>
            <a:off x="9235440" y="2057400"/>
            <a:ext cx="2404872" cy="1463040"/>
          </a:xfrm>
          <a:prstGeom prst="roundRect">
            <a:avLst>
              <a:gd name="adj" fmla="val 12000"/>
            </a:avLst>
          </a:prstGeom>
          <a:solidFill>
            <a:srgbClr val="FEF2F2"/>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81160" y="2084832"/>
            <a:ext cx="2313432" cy="140817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P1 → P4</a:t>
            </a:r>
          </a:p>
          <a:p>
            <a:pPr algn="ctr">
              <a:spcAft>
                <a:spcPts val="0"/>
              </a:spcAft>
            </a:pPr>
            <a:r>
              <a:rPr sz="1150" b="0" i="0">
                <a:solidFill>
                  <a:srgbClr val="475569"/>
                </a:solidFill>
                <a:latin typeface="Segoe UI"/>
              </a:rPr>
              <a:t>Critical: now</a:t>
            </a:r>
          </a:p>
          <a:p>
            <a:pPr algn="ctr">
              <a:spcAft>
                <a:spcPts val="0"/>
              </a:spcAft>
            </a:pPr>
            <a:r>
              <a:rPr sz="1150" b="0" i="0">
                <a:solidFill>
                  <a:srgbClr val="475569"/>
                </a:solidFill>
                <a:latin typeface="Segoe UI"/>
              </a:rPr>
              <a:t>High: today</a:t>
            </a:r>
          </a:p>
          <a:p>
            <a:pPr algn="ctr">
              <a:spcAft>
                <a:spcPts val="0"/>
              </a:spcAft>
            </a:pPr>
            <a:r>
              <a:rPr sz="1150" b="0" i="0">
                <a:solidFill>
                  <a:srgbClr val="475569"/>
                </a:solidFill>
                <a:latin typeface="Segoe UI"/>
              </a:rPr>
              <a:t>Medium: when possible</a:t>
            </a:r>
          </a:p>
          <a:p>
            <a:pPr algn="ctr">
              <a:spcAft>
                <a:spcPts val="0"/>
              </a:spcAft>
            </a:pPr>
            <a:r>
              <a:rPr sz="1150" b="0" i="0">
                <a:solidFill>
                  <a:srgbClr val="475569"/>
                </a:solidFill>
                <a:latin typeface="Segoe UI"/>
              </a:rPr>
              <a:t>Low: monitor</a:t>
            </a:r>
          </a:p>
        </p:txBody>
      </p:sp>
      <p:cxnSp>
        <p:nvCxnSpPr>
          <p:cNvPr id="37" name="Connector 36"/>
          <p:cNvCxnSpPr/>
          <p:nvPr/>
        </p:nvCxnSpPr>
        <p:spPr>
          <a:xfrm>
            <a:off x="8778240" y="2788920"/>
            <a:ext cx="4572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309360" y="3657600"/>
            <a:ext cx="5330952" cy="640080"/>
          </a:xfrm>
          <a:prstGeom prst="rect">
            <a:avLst/>
          </a:prstGeom>
          <a:noFill/>
        </p:spPr>
        <p:txBody>
          <a:bodyPr wrap="square" anchor="t" lIns="45720" rIns="45720" tIns="27432" bIns="27432">
            <a:spAutoFit/>
          </a:bodyPr>
          <a:lstStyle/>
          <a:p>
            <a:pPr algn="l">
              <a:spcAft>
                <a:spcPts val="600"/>
              </a:spcAft>
            </a:pPr>
            <a:r>
              <a:rPr sz="1150" b="0" i="0">
                <a:solidFill>
                  <a:srgbClr val="475569"/>
                </a:solidFill>
                <a:latin typeface="Segoe UI"/>
              </a:rPr>
              <a:t>Rules: BENIGN but highly unusual → at least P2 · critical attack with risk ≥ 90% → P1 · PortScan capped at P3</a:t>
            </a:r>
          </a:p>
        </p:txBody>
      </p:sp>
      <p:sp>
        <p:nvSpPr>
          <p:cNvPr id="39" name="Rounded Rectangle 38"/>
          <p:cNvSpPr/>
          <p:nvPr/>
        </p:nvSpPr>
        <p:spPr>
          <a:xfrm>
            <a:off x="548640" y="4480560"/>
            <a:ext cx="3108960" cy="1463040"/>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3232" y="466344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1248" y="4608576"/>
            <a:ext cx="2697480" cy="128016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SHAP explanations</a:t>
            </a:r>
          </a:p>
          <a:p>
            <a:pPr algn="l">
              <a:spcAft>
                <a:spcPts val="300"/>
              </a:spcAft>
            </a:pPr>
            <a:r>
              <a:rPr sz="1250" b="0" i="0">
                <a:solidFill>
                  <a:srgbClr val="475569"/>
                </a:solidFill>
                <a:latin typeface="Segoe UI"/>
              </a:rPr>
              <a:t>Which metrics drove each prediction, compared with normal traffic</a:t>
            </a:r>
          </a:p>
        </p:txBody>
      </p:sp>
      <p:sp>
        <p:nvSpPr>
          <p:cNvPr id="42" name="Rounded Rectangle 41"/>
          <p:cNvSpPr/>
          <p:nvPr/>
        </p:nvSpPr>
        <p:spPr>
          <a:xfrm>
            <a:off x="3886200" y="4480560"/>
            <a:ext cx="1783080" cy="146304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886200" y="4590288"/>
            <a:ext cx="1783080"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0.986</a:t>
            </a:r>
          </a:p>
        </p:txBody>
      </p:sp>
      <p:sp>
        <p:nvSpPr>
          <p:cNvPr id="44" name="TextBox 43"/>
          <p:cNvSpPr txBox="1"/>
          <p:nvPr/>
        </p:nvSpPr>
        <p:spPr>
          <a:xfrm>
            <a:off x="3977640" y="5257800"/>
            <a:ext cx="1600200" cy="64008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classifier accuracy (macro F1 0.839)</a:t>
            </a:r>
          </a:p>
        </p:txBody>
      </p:sp>
      <p:sp>
        <p:nvSpPr>
          <p:cNvPr id="45" name="Rounded Rectangle 44"/>
          <p:cNvSpPr/>
          <p:nvPr/>
        </p:nvSpPr>
        <p:spPr>
          <a:xfrm>
            <a:off x="5852160" y="4480560"/>
            <a:ext cx="1783080" cy="146304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52160" y="4590288"/>
            <a:ext cx="1783080"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0.9997</a:t>
            </a:r>
          </a:p>
        </p:txBody>
      </p:sp>
      <p:sp>
        <p:nvSpPr>
          <p:cNvPr id="47" name="TextBox 46"/>
          <p:cNvSpPr txBox="1"/>
          <p:nvPr/>
        </p:nvSpPr>
        <p:spPr>
          <a:xfrm>
            <a:off x="5943600" y="5257800"/>
            <a:ext cx="1600200" cy="64008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risk model ROC-AUC, 0.7% false alarms</a:t>
            </a:r>
          </a:p>
        </p:txBody>
      </p:sp>
      <p:sp>
        <p:nvSpPr>
          <p:cNvPr id="48" name="Rounded Rectangle 47"/>
          <p:cNvSpPr/>
          <p:nvPr/>
        </p:nvSpPr>
        <p:spPr>
          <a:xfrm>
            <a:off x="7818120" y="4480560"/>
            <a:ext cx="1783080" cy="146304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818120" y="4590288"/>
            <a:ext cx="1783080"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0.855</a:t>
            </a:r>
          </a:p>
        </p:txBody>
      </p:sp>
      <p:sp>
        <p:nvSpPr>
          <p:cNvPr id="50" name="TextBox 49"/>
          <p:cNvSpPr txBox="1"/>
          <p:nvPr/>
        </p:nvSpPr>
        <p:spPr>
          <a:xfrm>
            <a:off x="7909560" y="5257800"/>
            <a:ext cx="1600200" cy="64008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anomaly detector ROC-AUC</a:t>
            </a:r>
          </a:p>
        </p:txBody>
      </p:sp>
      <p:sp>
        <p:nvSpPr>
          <p:cNvPr id="51" name="Rounded Rectangle 50"/>
          <p:cNvSpPr/>
          <p:nvPr/>
        </p:nvSpPr>
        <p:spPr>
          <a:xfrm>
            <a:off x="9784080" y="4480560"/>
            <a:ext cx="1783080" cy="146304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84080" y="4590288"/>
            <a:ext cx="1783080"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71%</a:t>
            </a:r>
          </a:p>
        </p:txBody>
      </p:sp>
      <p:sp>
        <p:nvSpPr>
          <p:cNvPr id="53" name="TextBox 52"/>
          <p:cNvSpPr txBox="1"/>
          <p:nvPr/>
        </p:nvSpPr>
        <p:spPr>
          <a:xfrm>
            <a:off x="9875520" y="5257800"/>
            <a:ext cx="1600200" cy="64008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unseen Infiltration flagged as anomalous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ONE TURN THROUGH THE SUPERVISOR GRAPH</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Multi-agent workflow: LangGraph</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9</a:t>
            </a:r>
          </a:p>
        </p:txBody>
      </p:sp>
      <p:sp>
        <p:nvSpPr>
          <p:cNvPr id="7" name="Rounded Rectangle 6"/>
          <p:cNvSpPr/>
          <p:nvPr/>
        </p:nvSpPr>
        <p:spPr>
          <a:xfrm>
            <a:off x="548640" y="2103120"/>
            <a:ext cx="1371600" cy="100584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30552"/>
            <a:ext cx="1280160" cy="95097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Input guard</a:t>
            </a:r>
          </a:p>
          <a:p>
            <a:pPr algn="ctr">
              <a:spcAft>
                <a:spcPts val="0"/>
              </a:spcAft>
            </a:pPr>
            <a:r>
              <a:rPr sz="1150" b="0" i="0">
                <a:solidFill>
                  <a:srgbClr val="475569"/>
                </a:solidFill>
                <a:latin typeface="Segoe UI"/>
              </a:rPr>
              <a:t>safety check</a:t>
            </a:r>
          </a:p>
        </p:txBody>
      </p:sp>
      <p:sp>
        <p:nvSpPr>
          <p:cNvPr id="9" name="Rounded Rectangle 8"/>
          <p:cNvSpPr/>
          <p:nvPr/>
        </p:nvSpPr>
        <p:spPr>
          <a:xfrm>
            <a:off x="2194560" y="2103120"/>
            <a:ext cx="1554480" cy="100584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2130552"/>
            <a:ext cx="1463040" cy="95097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Supervisor</a:t>
            </a:r>
          </a:p>
          <a:p>
            <a:pPr algn="ctr">
              <a:spcAft>
                <a:spcPts val="0"/>
              </a:spcAft>
            </a:pPr>
            <a:r>
              <a:rPr sz="1150" b="0" i="0">
                <a:solidFill>
                  <a:srgbClr val="475569"/>
                </a:solidFill>
                <a:latin typeface="Segoe UI"/>
              </a:rPr>
              <a:t>picks 1 of 7 routes</a:t>
            </a:r>
          </a:p>
        </p:txBody>
      </p:sp>
      <p:sp>
        <p:nvSpPr>
          <p:cNvPr id="11" name="Rounded Rectangle 10"/>
          <p:cNvSpPr/>
          <p:nvPr/>
        </p:nvSpPr>
        <p:spPr>
          <a:xfrm>
            <a:off x="4023360" y="1554480"/>
            <a:ext cx="2194560" cy="2148840"/>
          </a:xfrm>
          <a:prstGeom prst="roundRect">
            <a:avLst>
              <a:gd name="adj" fmla="val 4000"/>
            </a:avLst>
          </a:prstGeom>
          <a:noFill/>
          <a:ln w="15875">
            <a:solidFill>
              <a:srgbClr val="7C3AE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33088" y="1600200"/>
            <a:ext cx="1975104" cy="274320"/>
          </a:xfrm>
          <a:prstGeom prst="rect">
            <a:avLst/>
          </a:prstGeom>
          <a:noFill/>
        </p:spPr>
        <p:txBody>
          <a:bodyPr wrap="square" anchor="t" lIns="45720" rIns="45720" tIns="27432" bIns="27432">
            <a:spAutoFit/>
          </a:bodyPr>
          <a:lstStyle/>
          <a:p>
            <a:pPr algn="l">
              <a:spcAft>
                <a:spcPts val="600"/>
              </a:spcAft>
            </a:pPr>
            <a:r>
              <a:rPr sz="1050" b="1" i="0">
                <a:solidFill>
                  <a:srgbClr val="7C3AED"/>
                </a:solidFill>
                <a:latin typeface="Segoe UI"/>
              </a:rPr>
              <a:t>STAGE 1 · in parallel</a:t>
            </a:r>
          </a:p>
        </p:txBody>
      </p:sp>
      <p:sp>
        <p:nvSpPr>
          <p:cNvPr id="13" name="Rounded Rectangle 12"/>
          <p:cNvSpPr/>
          <p:nvPr/>
        </p:nvSpPr>
        <p:spPr>
          <a:xfrm>
            <a:off x="4160520" y="1920240"/>
            <a:ext cx="1920240" cy="73152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1947672"/>
            <a:ext cx="1828800" cy="67665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Classification</a:t>
            </a:r>
          </a:p>
          <a:p>
            <a:pPr algn="ctr">
              <a:spcAft>
                <a:spcPts val="0"/>
              </a:spcAft>
            </a:pPr>
            <a:r>
              <a:rPr sz="1100" b="0" i="0">
                <a:solidFill>
                  <a:srgbClr val="475569"/>
                </a:solidFill>
                <a:latin typeface="Segoe UI"/>
              </a:rPr>
              <a:t>agent + tools</a:t>
            </a:r>
          </a:p>
        </p:txBody>
      </p:sp>
      <p:sp>
        <p:nvSpPr>
          <p:cNvPr id="15" name="Rounded Rectangle 14"/>
          <p:cNvSpPr/>
          <p:nvPr/>
        </p:nvSpPr>
        <p:spPr>
          <a:xfrm>
            <a:off x="4160520" y="2788920"/>
            <a:ext cx="1920240" cy="73152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2816352"/>
            <a:ext cx="1828800" cy="67665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Risk &amp; Priority</a:t>
            </a:r>
          </a:p>
          <a:p>
            <a:pPr algn="ctr">
              <a:spcAft>
                <a:spcPts val="0"/>
              </a:spcAft>
            </a:pPr>
            <a:r>
              <a:rPr sz="1100" b="0" i="0">
                <a:solidFill>
                  <a:srgbClr val="475569"/>
                </a:solidFill>
                <a:latin typeface="Segoe UI"/>
              </a:rPr>
              <a:t>agent + tools</a:t>
            </a:r>
          </a:p>
        </p:txBody>
      </p:sp>
      <p:sp>
        <p:nvSpPr>
          <p:cNvPr id="17" name="Rounded Rectangle 16"/>
          <p:cNvSpPr/>
          <p:nvPr/>
        </p:nvSpPr>
        <p:spPr>
          <a:xfrm>
            <a:off x="6492240" y="1554480"/>
            <a:ext cx="2194560" cy="2148840"/>
          </a:xfrm>
          <a:prstGeom prst="roundRect">
            <a:avLst>
              <a:gd name="adj" fmla="val 4000"/>
            </a:avLst>
          </a:prstGeom>
          <a:noFill/>
          <a:ln w="15875">
            <a:solidFill>
              <a:srgbClr val="7C3AE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01968" y="1600200"/>
            <a:ext cx="1975104" cy="274320"/>
          </a:xfrm>
          <a:prstGeom prst="rect">
            <a:avLst/>
          </a:prstGeom>
          <a:noFill/>
        </p:spPr>
        <p:txBody>
          <a:bodyPr wrap="square" anchor="t" lIns="45720" rIns="45720" tIns="27432" bIns="27432">
            <a:spAutoFit/>
          </a:bodyPr>
          <a:lstStyle/>
          <a:p>
            <a:pPr algn="l">
              <a:spcAft>
                <a:spcPts val="600"/>
              </a:spcAft>
            </a:pPr>
            <a:r>
              <a:rPr sz="1050" b="1" i="0">
                <a:solidFill>
                  <a:srgbClr val="7C3AED"/>
                </a:solidFill>
                <a:latin typeface="Segoe UI"/>
              </a:rPr>
              <a:t>STAGE 2 · in parallel</a:t>
            </a:r>
          </a:p>
        </p:txBody>
      </p:sp>
      <p:sp>
        <p:nvSpPr>
          <p:cNvPr id="19" name="Rounded Rectangle 18"/>
          <p:cNvSpPr/>
          <p:nvPr/>
        </p:nvSpPr>
        <p:spPr>
          <a:xfrm>
            <a:off x="6629400" y="1920240"/>
            <a:ext cx="1920240" cy="73152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1947672"/>
            <a:ext cx="1828800" cy="67665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Incident Search</a:t>
            </a:r>
          </a:p>
          <a:p>
            <a:pPr algn="ctr">
              <a:spcAft>
                <a:spcPts val="0"/>
              </a:spcAft>
            </a:pPr>
            <a:r>
              <a:rPr sz="1100" b="0" i="0">
                <a:solidFill>
                  <a:srgbClr val="475569"/>
                </a:solidFill>
                <a:latin typeface="Segoe UI"/>
              </a:rPr>
              <a:t>agent + tools</a:t>
            </a:r>
          </a:p>
        </p:txBody>
      </p:sp>
      <p:sp>
        <p:nvSpPr>
          <p:cNvPr id="21" name="Rounded Rectangle 20"/>
          <p:cNvSpPr/>
          <p:nvPr/>
        </p:nvSpPr>
        <p:spPr>
          <a:xfrm>
            <a:off x="6629400" y="2788920"/>
            <a:ext cx="1920240" cy="73152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2816352"/>
            <a:ext cx="1828800" cy="67665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Response</a:t>
            </a:r>
          </a:p>
          <a:p>
            <a:pPr algn="ctr">
              <a:spcAft>
                <a:spcPts val="0"/>
              </a:spcAft>
            </a:pPr>
            <a:r>
              <a:rPr sz="1100" b="0" i="0">
                <a:solidFill>
                  <a:srgbClr val="475569"/>
                </a:solidFill>
                <a:latin typeface="Segoe UI"/>
              </a:rPr>
              <a:t>agent + tools</a:t>
            </a:r>
          </a:p>
        </p:txBody>
      </p:sp>
      <p:sp>
        <p:nvSpPr>
          <p:cNvPr id="23" name="Rounded Rectangle 22"/>
          <p:cNvSpPr/>
          <p:nvPr/>
        </p:nvSpPr>
        <p:spPr>
          <a:xfrm>
            <a:off x="8961120" y="2103120"/>
            <a:ext cx="1234440" cy="100584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06840" y="2130552"/>
            <a:ext cx="1143000" cy="95097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Final answer</a:t>
            </a:r>
          </a:p>
          <a:p>
            <a:pPr algn="ctr">
              <a:spcAft>
                <a:spcPts val="0"/>
              </a:spcAft>
            </a:pPr>
            <a:r>
              <a:rPr sz="1150" b="0" i="0">
                <a:solidFill>
                  <a:srgbClr val="475569"/>
                </a:solidFill>
                <a:latin typeface="Segoe UI"/>
              </a:rPr>
              <a:t>one reply</a:t>
            </a:r>
          </a:p>
        </p:txBody>
      </p:sp>
      <p:sp>
        <p:nvSpPr>
          <p:cNvPr id="25" name="Rounded Rectangle 24"/>
          <p:cNvSpPr/>
          <p:nvPr/>
        </p:nvSpPr>
        <p:spPr>
          <a:xfrm>
            <a:off x="10424160" y="2103120"/>
            <a:ext cx="1216152" cy="100584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469880" y="2130552"/>
            <a:ext cx="1124712" cy="950976"/>
          </a:xfrm>
          <a:prstGeom prst="rect">
            <a:avLst/>
          </a:prstGeom>
          <a:noFill/>
        </p:spPr>
        <p:txBody>
          <a:bodyPr wrap="square" anchor="ctr" lIns="45720" rIns="45720" tIns="27432" bIns="27432">
            <a:spAutoFit/>
          </a:bodyPr>
          <a:lstStyle/>
          <a:p>
            <a:pPr algn="ctr">
              <a:spcAft>
                <a:spcPts val="200"/>
              </a:spcAft>
            </a:pPr>
            <a:r>
              <a:rPr sz="1300" b="1" i="0">
                <a:solidFill>
                  <a:srgbClr val="0F172A"/>
                </a:solidFill>
                <a:latin typeface="Segoe UI"/>
              </a:rPr>
              <a:t>Output guard</a:t>
            </a:r>
          </a:p>
          <a:p>
            <a:pPr algn="ctr">
              <a:spcAft>
                <a:spcPts val="0"/>
              </a:spcAft>
            </a:pPr>
            <a:r>
              <a:rPr sz="1150" b="0" i="0">
                <a:solidFill>
                  <a:srgbClr val="475569"/>
                </a:solidFill>
                <a:latin typeface="Segoe UI"/>
              </a:rPr>
              <a:t>checks facts</a:t>
            </a:r>
          </a:p>
        </p:txBody>
      </p:sp>
      <p:cxnSp>
        <p:nvCxnSpPr>
          <p:cNvPr id="27" name="Connector 26"/>
          <p:cNvCxnSpPr/>
          <p:nvPr/>
        </p:nvCxnSpPr>
        <p:spPr>
          <a:xfrm>
            <a:off x="1920240" y="260604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49039" y="2606040"/>
            <a:ext cx="274321"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217920" y="260604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686800" y="2606040"/>
            <a:ext cx="27432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95560" y="2606040"/>
            <a:ext cx="22860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2" name="Table 31"/>
          <p:cNvGraphicFramePr>
            <a:graphicFrameLocks noGrp="1"/>
          </p:cNvGraphicFramePr>
          <p:nvPr/>
        </p:nvGraphicFramePr>
        <p:xfrm>
          <a:off x="548640" y="3931920"/>
          <a:ext cx="11094409" cy="768096"/>
        </p:xfrm>
        <a:graphic>
          <a:graphicData uri="http://schemas.openxmlformats.org/drawingml/2006/table">
            <a:tbl>
              <a:tblPr firstRow="1" bandRow="1">
                <a:tableStyleId>{5C22544A-7EE6-4342-B048-85BDC9FD1C3A}</a:tableStyleId>
              </a:tblPr>
              <a:tblGrid>
                <a:gridCol w="1519782"/>
                <a:gridCol w="1519782"/>
                <a:gridCol w="1519782"/>
                <a:gridCol w="1519782"/>
                <a:gridCol w="1975717"/>
                <a:gridCol w="1519782"/>
                <a:gridCol w="1519782"/>
              </a:tblGrid>
              <a:tr h="384048">
                <a:tc>
                  <a:txBody>
                    <a:bodyPr wrap="square"/>
                    <a:lstStyle/>
                    <a:p>
                      <a:r>
                        <a:rPr sz="1200" b="1" i="0">
                          <a:solidFill>
                            <a:srgbClr val="1E3A8A"/>
                          </a:solidFill>
                          <a:latin typeface="Segoe UI"/>
                        </a:rPr>
                        <a:t>classify</a:t>
                      </a:r>
                    </a:p>
                  </a:txBody>
                  <a:tcPr marL="73152" marR="73152" marT="36576" marB="36576" anchor="ctr">
                    <a:solidFill>
                      <a:srgbClr val="EFF6FF"/>
                    </a:solidFill>
                  </a:tcPr>
                </a:tc>
                <a:tc>
                  <a:txBody>
                    <a:bodyPr wrap="square"/>
                    <a:lstStyle/>
                    <a:p>
                      <a:r>
                        <a:rPr sz="1200" b="1" i="0">
                          <a:solidFill>
                            <a:srgbClr val="1E3A8A"/>
                          </a:solidFill>
                          <a:latin typeface="Segoe UI"/>
                        </a:rPr>
                        <a:t>risk</a:t>
                      </a:r>
                    </a:p>
                  </a:txBody>
                  <a:tcPr marL="73152" marR="73152" marT="36576" marB="36576" anchor="ctr">
                    <a:solidFill>
                      <a:srgbClr val="EFF6FF"/>
                    </a:solidFill>
                  </a:tcPr>
                </a:tc>
                <a:tc>
                  <a:txBody>
                    <a:bodyPr wrap="square"/>
                    <a:lstStyle/>
                    <a:p>
                      <a:r>
                        <a:rPr sz="1200" b="1" i="0">
                          <a:solidFill>
                            <a:srgbClr val="1E3A8A"/>
                          </a:solidFill>
                          <a:latin typeface="Segoe UI"/>
                        </a:rPr>
                        <a:t>search</a:t>
                      </a:r>
                    </a:p>
                  </a:txBody>
                  <a:tcPr marL="73152" marR="73152" marT="36576" marB="36576" anchor="ctr">
                    <a:solidFill>
                      <a:srgbClr val="EFF6FF"/>
                    </a:solidFill>
                  </a:tcPr>
                </a:tc>
                <a:tc>
                  <a:txBody>
                    <a:bodyPr wrap="square"/>
                    <a:lstStyle/>
                    <a:p>
                      <a:r>
                        <a:rPr sz="1200" b="1" i="0">
                          <a:solidFill>
                            <a:srgbClr val="1E3A8A"/>
                          </a:solidFill>
                          <a:latin typeface="Segoe UI"/>
                        </a:rPr>
                        <a:t>recommend</a:t>
                      </a:r>
                    </a:p>
                  </a:txBody>
                  <a:tcPr marL="73152" marR="73152" marT="36576" marB="36576" anchor="ctr">
                    <a:solidFill>
                      <a:srgbClr val="EFF6FF"/>
                    </a:solidFill>
                  </a:tcPr>
                </a:tc>
                <a:tc>
                  <a:txBody>
                    <a:bodyPr wrap="square"/>
                    <a:lstStyle/>
                    <a:p>
                      <a:r>
                        <a:rPr sz="1200" b="1" i="0">
                          <a:solidFill>
                            <a:srgbClr val="1E3A8A"/>
                          </a:solidFill>
                          <a:latin typeface="Segoe UI"/>
                        </a:rPr>
                        <a:t>investigate</a:t>
                      </a:r>
                    </a:p>
                  </a:txBody>
                  <a:tcPr marL="73152" marR="73152" marT="36576" marB="36576" anchor="ctr">
                    <a:solidFill>
                      <a:srgbClr val="EFF6FF"/>
                    </a:solidFill>
                  </a:tcPr>
                </a:tc>
                <a:tc>
                  <a:txBody>
                    <a:bodyPr wrap="square"/>
                    <a:lstStyle/>
                    <a:p>
                      <a:r>
                        <a:rPr sz="1200" b="1" i="0">
                          <a:solidFill>
                            <a:srgbClr val="1E3A8A"/>
                          </a:solidFill>
                          <a:latin typeface="Segoe UI"/>
                        </a:rPr>
                        <a:t>general</a:t>
                      </a:r>
                    </a:p>
                  </a:txBody>
                  <a:tcPr marL="73152" marR="73152" marT="36576" marB="36576" anchor="ctr">
                    <a:solidFill>
                      <a:srgbClr val="EFF6FF"/>
                    </a:solidFill>
                  </a:tcPr>
                </a:tc>
                <a:tc>
                  <a:txBody>
                    <a:bodyPr wrap="square"/>
                    <a:lstStyle/>
                    <a:p>
                      <a:r>
                        <a:rPr sz="1200" b="1" i="0">
                          <a:solidFill>
                            <a:srgbClr val="1E3A8A"/>
                          </a:solidFill>
                          <a:latin typeface="Segoe UI"/>
                        </a:rPr>
                        <a:t>out of scope</a:t>
                      </a:r>
                    </a:p>
                  </a:txBody>
                  <a:tcPr marL="73152" marR="73152" marT="36576" marB="36576" anchor="ctr">
                    <a:solidFill>
                      <a:srgbClr val="EFF6FF"/>
                    </a:solidFill>
                  </a:tcPr>
                </a:tc>
              </a:tr>
              <a:tr h="384048">
                <a:tc>
                  <a:txBody>
                    <a:bodyPr wrap="square"/>
                    <a:lstStyle/>
                    <a:p>
                      <a:r>
                        <a:rPr sz="1200" b="0" i="0">
                          <a:solidFill>
                            <a:srgbClr val="0F172A"/>
                          </a:solidFill>
                          <a:latin typeface="Segoe UI"/>
                        </a:rPr>
                        <a:t>Classification</a:t>
                      </a:r>
                    </a:p>
                  </a:txBody>
                  <a:tcPr marL="73152" marR="73152" marT="36576" marB="36576" anchor="ctr">
                    <a:solidFill>
                      <a:srgbClr val="FFFFFF"/>
                    </a:solidFill>
                  </a:tcPr>
                </a:tc>
                <a:tc>
                  <a:txBody>
                    <a:bodyPr wrap="square"/>
                    <a:lstStyle/>
                    <a:p>
                      <a:r>
                        <a:rPr sz="1200" b="0" i="0">
                          <a:solidFill>
                            <a:srgbClr val="0F172A"/>
                          </a:solidFill>
                          <a:latin typeface="Segoe UI"/>
                        </a:rPr>
                        <a:t>Risk &amp; Priority</a:t>
                      </a:r>
                    </a:p>
                  </a:txBody>
                  <a:tcPr marL="73152" marR="73152" marT="36576" marB="36576" anchor="ctr">
                    <a:solidFill>
                      <a:srgbClr val="FFFFFF"/>
                    </a:solidFill>
                  </a:tcPr>
                </a:tc>
                <a:tc>
                  <a:txBody>
                    <a:bodyPr wrap="square"/>
                    <a:lstStyle/>
                    <a:p>
                      <a:r>
                        <a:rPr sz="1200" b="0" i="0">
                          <a:solidFill>
                            <a:srgbClr val="0F172A"/>
                          </a:solidFill>
                          <a:latin typeface="Segoe UI"/>
                        </a:rPr>
                        <a:t>Incident Search</a:t>
                      </a:r>
                    </a:p>
                  </a:txBody>
                  <a:tcPr marL="73152" marR="73152" marT="36576" marB="36576" anchor="ctr">
                    <a:solidFill>
                      <a:srgbClr val="FFFFFF"/>
                    </a:solidFill>
                  </a:tcPr>
                </a:tc>
                <a:tc>
                  <a:txBody>
                    <a:bodyPr wrap="square"/>
                    <a:lstStyle/>
                    <a:p>
                      <a:r>
                        <a:rPr sz="1200" b="0" i="0">
                          <a:solidFill>
                            <a:srgbClr val="0F172A"/>
                          </a:solidFill>
                          <a:latin typeface="Segoe UI"/>
                        </a:rPr>
                        <a:t>Response</a:t>
                      </a:r>
                    </a:p>
                  </a:txBody>
                  <a:tcPr marL="73152" marR="73152" marT="36576" marB="36576" anchor="ctr">
                    <a:solidFill>
                      <a:srgbClr val="FFFFFF"/>
                    </a:solidFill>
                  </a:tcPr>
                </a:tc>
                <a:tc>
                  <a:txBody>
                    <a:bodyPr wrap="square"/>
                    <a:lstStyle/>
                    <a:p>
                      <a:r>
                        <a:rPr sz="1200" b="0" i="0">
                          <a:solidFill>
                            <a:srgbClr val="0F172A"/>
                          </a:solidFill>
                          <a:latin typeface="Segoe UI"/>
                        </a:rPr>
                        <a:t>all 4 agents, 2 stages</a:t>
                      </a:r>
                    </a:p>
                  </a:txBody>
                  <a:tcPr marL="73152" marR="73152" marT="36576" marB="36576" anchor="ctr">
                    <a:solidFill>
                      <a:srgbClr val="FFFFFF"/>
                    </a:solidFill>
                  </a:tcPr>
                </a:tc>
                <a:tc>
                  <a:txBody>
                    <a:bodyPr wrap="square"/>
                    <a:lstStyle/>
                    <a:p>
                      <a:r>
                        <a:rPr sz="1200" b="0" i="0">
                          <a:solidFill>
                            <a:srgbClr val="0F172A"/>
                          </a:solidFill>
                          <a:latin typeface="Segoe UI"/>
                        </a:rPr>
                        <a:t>answer directly</a:t>
                      </a:r>
                    </a:p>
                  </a:txBody>
                  <a:tcPr marL="73152" marR="73152" marT="36576" marB="36576" anchor="ctr">
                    <a:solidFill>
                      <a:srgbClr val="FFFFFF"/>
                    </a:solidFill>
                  </a:tcPr>
                </a:tc>
                <a:tc>
                  <a:txBody>
                    <a:bodyPr wrap="square"/>
                    <a:lstStyle/>
                    <a:p>
                      <a:r>
                        <a:rPr sz="1200" b="0" i="0">
                          <a:solidFill>
                            <a:srgbClr val="0F172A"/>
                          </a:solidFill>
                          <a:latin typeface="Segoe UI"/>
                        </a:rPr>
                        <a:t>fixed refusal</a:t>
                      </a:r>
                    </a:p>
                  </a:txBody>
                  <a:tcPr marL="73152" marR="73152" marT="36576" marB="36576" anchor="ctr">
                    <a:solidFill>
                      <a:srgbClr val="FFFFFF"/>
                    </a:solidFill>
                  </a:tcPr>
                </a:tc>
              </a:tr>
            </a:tbl>
          </a:graphicData>
        </a:graphic>
      </p:graphicFrame>
      <p:sp>
        <p:nvSpPr>
          <p:cNvPr id="33" name="Rounded Rectangle 32"/>
          <p:cNvSpPr/>
          <p:nvPr/>
        </p:nvSpPr>
        <p:spPr>
          <a:xfrm>
            <a:off x="548640" y="4892040"/>
            <a:ext cx="3515258" cy="1188720"/>
          </a:xfrm>
          <a:prstGeom prst="roundRect">
            <a:avLst>
              <a:gd name="adj" fmla="val 7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13232" y="5074920"/>
            <a:ext cx="54864" cy="3291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5020056"/>
            <a:ext cx="3103778" cy="100584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Direct reply</a:t>
            </a:r>
          </a:p>
          <a:p>
            <a:pPr algn="l">
              <a:spcAft>
                <a:spcPts val="300"/>
              </a:spcAft>
            </a:pPr>
            <a:r>
              <a:rPr sz="1250" b="0" i="0">
                <a:solidFill>
                  <a:srgbClr val="475569"/>
                </a:solidFill>
                <a:latin typeface="Segoe UI"/>
              </a:rPr>
              <a:t>A single agent writes the answer itself: one LLM call saved</a:t>
            </a:r>
          </a:p>
        </p:txBody>
      </p:sp>
      <p:sp>
        <p:nvSpPr>
          <p:cNvPr id="36" name="Rounded Rectangle 35"/>
          <p:cNvSpPr/>
          <p:nvPr/>
        </p:nvSpPr>
        <p:spPr>
          <a:xfrm>
            <a:off x="4338218" y="4892040"/>
            <a:ext cx="3515258" cy="118872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02810" y="507492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30826" y="5020056"/>
            <a:ext cx="3103778" cy="100584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Follow-up</a:t>
            </a:r>
          </a:p>
          <a:p>
            <a:pPr algn="l">
              <a:spcAft>
                <a:spcPts val="300"/>
              </a:spcAft>
            </a:pPr>
            <a:r>
              <a:rPr sz="1250" b="0" i="0">
                <a:solidFill>
                  <a:srgbClr val="475569"/>
                </a:solidFill>
                <a:latin typeface="Segoe UI"/>
              </a:rPr>
              <a:t>Missing duration, packets or bytes → asks the user, never guesses</a:t>
            </a:r>
          </a:p>
        </p:txBody>
      </p:sp>
      <p:sp>
        <p:nvSpPr>
          <p:cNvPr id="39" name="Rounded Rectangle 38"/>
          <p:cNvSpPr/>
          <p:nvPr/>
        </p:nvSpPr>
        <p:spPr>
          <a:xfrm>
            <a:off x="8127797" y="4892040"/>
            <a:ext cx="3515258" cy="1188720"/>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292389" y="507492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20405" y="5020056"/>
            <a:ext cx="3103778" cy="100584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Bounded and visible</a:t>
            </a:r>
          </a:p>
          <a:p>
            <a:pPr algn="l">
              <a:spcAft>
                <a:spcPts val="300"/>
              </a:spcAft>
            </a:pPr>
            <a:r>
              <a:rPr sz="1250" b="0" i="0">
                <a:solidFill>
                  <a:srgbClr val="475569"/>
                </a:solidFill>
                <a:latin typeface="Segoe UI"/>
              </a:rPr>
              <a:t>At most 6 tool rounds per agent; every step streamed live to the UI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GUARDRAILS, LLM-AS-JUDGE, FEEDBACK</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Safety and quality</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10</a:t>
            </a:r>
          </a:p>
        </p:txBody>
      </p:sp>
      <p:sp>
        <p:nvSpPr>
          <p:cNvPr id="7" name="Rounded Rectangle 6"/>
          <p:cNvSpPr/>
          <p:nvPr/>
        </p:nvSpPr>
        <p:spPr>
          <a:xfrm>
            <a:off x="548640" y="1691640"/>
            <a:ext cx="1597609" cy="86868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Input guard</a:t>
            </a:r>
          </a:p>
          <a:p>
            <a:pPr algn="ctr">
              <a:spcAft>
                <a:spcPts val="0"/>
              </a:spcAft>
            </a:pPr>
            <a:r>
              <a:rPr sz="1150" b="0" i="0">
                <a:solidFill>
                  <a:srgbClr val="475569"/>
                </a:solidFill>
                <a:latin typeface="Segoe UI"/>
              </a:rPr>
              <a:t>blocks, redacts</a:t>
            </a:r>
          </a:p>
        </p:txBody>
      </p:sp>
      <p:sp>
        <p:nvSpPr>
          <p:cNvPr id="9" name="Rounded Rectangle 8"/>
          <p:cNvSpPr/>
          <p:nvPr/>
        </p:nvSpPr>
        <p:spPr>
          <a:xfrm>
            <a:off x="2448001" y="1691640"/>
            <a:ext cx="1597609" cy="86868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93721"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Agents + tools</a:t>
            </a:r>
          </a:p>
          <a:p>
            <a:pPr algn="ctr">
              <a:spcAft>
                <a:spcPts val="0"/>
              </a:spcAft>
            </a:pPr>
            <a:r>
              <a:rPr sz="1150" b="0" i="0">
                <a:solidFill>
                  <a:srgbClr val="475569"/>
                </a:solidFill>
                <a:latin typeface="Segoe UI"/>
              </a:rPr>
              <a:t>grounded findings</a:t>
            </a:r>
          </a:p>
        </p:txBody>
      </p:sp>
      <p:sp>
        <p:nvSpPr>
          <p:cNvPr id="11" name="Rounded Rectangle 10"/>
          <p:cNvSpPr/>
          <p:nvPr/>
        </p:nvSpPr>
        <p:spPr>
          <a:xfrm>
            <a:off x="4347362" y="1691640"/>
            <a:ext cx="1597609" cy="868680"/>
          </a:xfrm>
          <a:prstGeom prst="roundRect">
            <a:avLst>
              <a:gd name="adj" fmla="val 12000"/>
            </a:avLst>
          </a:prstGeom>
          <a:solidFill>
            <a:srgbClr val="FFFBEB"/>
          </a:solidFill>
          <a:ln w="1905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93082"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Output guard</a:t>
            </a:r>
          </a:p>
          <a:p>
            <a:pPr algn="ctr">
              <a:spcAft>
                <a:spcPts val="0"/>
              </a:spcAft>
            </a:pPr>
            <a:r>
              <a:rPr sz="1150" b="0" i="0">
                <a:solidFill>
                  <a:srgbClr val="475569"/>
                </a:solidFill>
                <a:latin typeface="Segoe UI"/>
              </a:rPr>
              <a:t>fixes the answer</a:t>
            </a:r>
          </a:p>
        </p:txBody>
      </p:sp>
      <p:sp>
        <p:nvSpPr>
          <p:cNvPr id="13" name="Rounded Rectangle 12"/>
          <p:cNvSpPr/>
          <p:nvPr/>
        </p:nvSpPr>
        <p:spPr>
          <a:xfrm>
            <a:off x="6246724" y="1691640"/>
            <a:ext cx="1597609" cy="868680"/>
          </a:xfrm>
          <a:prstGeom prst="roundRect">
            <a:avLst>
              <a:gd name="adj" fmla="val 12000"/>
            </a:avLst>
          </a:prstGeom>
          <a:solidFill>
            <a:srgbClr val="FDF2F8"/>
          </a:solidFill>
          <a:ln w="19050">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2444"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LLM-as-Judge</a:t>
            </a:r>
          </a:p>
          <a:p>
            <a:pPr algn="ctr">
              <a:spcAft>
                <a:spcPts val="0"/>
              </a:spcAft>
            </a:pPr>
            <a:r>
              <a:rPr sz="1150" b="0" i="0">
                <a:solidFill>
                  <a:srgbClr val="475569"/>
                </a:solidFill>
                <a:latin typeface="Segoe UI"/>
              </a:rPr>
              <a:t>scores 1–5</a:t>
            </a:r>
          </a:p>
        </p:txBody>
      </p:sp>
      <p:sp>
        <p:nvSpPr>
          <p:cNvPr id="15" name="Rounded Rectangle 14"/>
          <p:cNvSpPr/>
          <p:nvPr/>
        </p:nvSpPr>
        <p:spPr>
          <a:xfrm>
            <a:off x="8146085" y="1691640"/>
            <a:ext cx="1597609" cy="86868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1805"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Analyst feedback</a:t>
            </a:r>
          </a:p>
          <a:p>
            <a:pPr algn="ctr">
              <a:spcAft>
                <a:spcPts val="0"/>
              </a:spcAft>
            </a:pPr>
            <a:r>
              <a:rPr sz="1150" b="0" i="0">
                <a:solidFill>
                  <a:srgbClr val="475569"/>
                </a:solidFill>
                <a:latin typeface="Segoe UI"/>
              </a:rPr>
              <a:t>ratings, corrections</a:t>
            </a:r>
          </a:p>
        </p:txBody>
      </p:sp>
      <p:sp>
        <p:nvSpPr>
          <p:cNvPr id="17" name="Rounded Rectangle 16"/>
          <p:cNvSpPr/>
          <p:nvPr/>
        </p:nvSpPr>
        <p:spPr>
          <a:xfrm>
            <a:off x="10045446" y="1691640"/>
            <a:ext cx="1597609" cy="868680"/>
          </a:xfrm>
          <a:prstGeom prst="roundRect">
            <a:avLst>
              <a:gd name="adj" fmla="val 12000"/>
            </a:avLst>
          </a:prstGeom>
          <a:solidFill>
            <a:srgbClr val="ECFDF5"/>
          </a:solidFill>
          <a:ln w="1905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91166" y="1719072"/>
            <a:ext cx="1506169" cy="81381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Safe retraining</a:t>
            </a:r>
          </a:p>
          <a:p>
            <a:pPr algn="ctr">
              <a:spcAft>
                <a:spcPts val="0"/>
              </a:spcAft>
            </a:pPr>
            <a:r>
              <a:rPr sz="1150" b="0" i="0">
                <a:solidFill>
                  <a:srgbClr val="475569"/>
                </a:solidFill>
                <a:latin typeface="Segoe UI"/>
              </a:rPr>
              <a:t>only if F1 holds</a:t>
            </a:r>
          </a:p>
        </p:txBody>
      </p:sp>
      <p:cxnSp>
        <p:nvCxnSpPr>
          <p:cNvPr id="19" name="Connector 18"/>
          <p:cNvCxnSpPr/>
          <p:nvPr/>
        </p:nvCxnSpPr>
        <p:spPr>
          <a:xfrm>
            <a:off x="2146249" y="212598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45610" y="212598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44972" y="212598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44333" y="212598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43694" y="2125980"/>
            <a:ext cx="301752"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44250" y="2560320"/>
            <a:ext cx="0" cy="27432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3246806" y="2834640"/>
            <a:ext cx="7597444" cy="0"/>
          </a:xfrm>
          <a:prstGeom prst="line">
            <a:avLst/>
          </a:prstGeom>
          <a:ln w="22225">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246806" y="2560320"/>
            <a:ext cx="0" cy="27432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713122" y="2615184"/>
            <a:ext cx="2377440" cy="274320"/>
          </a:xfrm>
          <a:prstGeom prst="rect">
            <a:avLst/>
          </a:prstGeom>
          <a:noFill/>
        </p:spPr>
        <p:txBody>
          <a:bodyPr wrap="square" anchor="t" lIns="45720" rIns="45720" tIns="27432" bIns="27432">
            <a:spAutoFit/>
          </a:bodyPr>
          <a:lstStyle/>
          <a:p>
            <a:pPr algn="l">
              <a:spcAft>
                <a:spcPts val="600"/>
              </a:spcAft>
            </a:pPr>
            <a:r>
              <a:rPr sz="1050" b="0" i="0">
                <a:solidFill>
                  <a:srgbClr val="475569"/>
                </a:solidFill>
                <a:latin typeface="Segoe UI"/>
              </a:rPr>
              <a:t>new classifier version</a:t>
            </a:r>
          </a:p>
        </p:txBody>
      </p:sp>
      <p:sp>
        <p:nvSpPr>
          <p:cNvPr id="28" name="Rounded Rectangle 27"/>
          <p:cNvSpPr/>
          <p:nvPr/>
        </p:nvSpPr>
        <p:spPr>
          <a:xfrm>
            <a:off x="548640" y="3200400"/>
            <a:ext cx="2567864" cy="251460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 y="338328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3328416"/>
            <a:ext cx="2156384" cy="233172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Input guard</a:t>
            </a:r>
          </a:p>
          <a:p>
            <a:pPr algn="l">
              <a:spcAft>
                <a:spcPts val="600"/>
              </a:spcAft>
            </a:pPr>
            <a:r>
              <a:rPr sz="1300" b="1" i="0">
                <a:solidFill>
                  <a:srgbClr val="D97706"/>
                </a:solidFill>
                <a:latin typeface="Segoe UI"/>
              </a:rPr>
              <a:t>•  </a:t>
            </a:r>
            <a:r>
              <a:rPr sz="1300" b="0" i="0">
                <a:solidFill>
                  <a:srgbClr val="475569"/>
                </a:solidFill>
                <a:latin typeface="Segoe UI"/>
              </a:rPr>
              <a:t>Blocks prompt injection and attack requests; defensive questions allowed</a:t>
            </a:r>
          </a:p>
          <a:p>
            <a:pPr algn="l">
              <a:spcAft>
                <a:spcPts val="600"/>
              </a:spcAft>
            </a:pPr>
            <a:r>
              <a:rPr sz="1300" b="1" i="0">
                <a:solidFill>
                  <a:srgbClr val="D97706"/>
                </a:solidFill>
                <a:latin typeface="Segoe UI"/>
              </a:rPr>
              <a:t>•  </a:t>
            </a:r>
            <a:r>
              <a:rPr sz="1300" b="0" i="0">
                <a:solidFill>
                  <a:srgbClr val="475569"/>
                </a:solidFill>
                <a:latin typeface="Segoe UI"/>
              </a:rPr>
              <a:t>Redacts keys, passwords, emails, card numbers</a:t>
            </a:r>
          </a:p>
        </p:txBody>
      </p:sp>
      <p:sp>
        <p:nvSpPr>
          <p:cNvPr id="31" name="Rounded Rectangle 30"/>
          <p:cNvSpPr/>
          <p:nvPr/>
        </p:nvSpPr>
        <p:spPr>
          <a:xfrm>
            <a:off x="3390824" y="3200400"/>
            <a:ext cx="2567864" cy="251460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555416" y="338328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83432" y="3328416"/>
            <a:ext cx="2156384" cy="233172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Output guard</a:t>
            </a:r>
          </a:p>
          <a:p>
            <a:pPr algn="l">
              <a:spcAft>
                <a:spcPts val="600"/>
              </a:spcAft>
            </a:pPr>
            <a:r>
              <a:rPr sz="1300" b="1" i="0">
                <a:solidFill>
                  <a:srgbClr val="D97706"/>
                </a:solidFill>
                <a:latin typeface="Segoe UI"/>
              </a:rPr>
              <a:t>•  </a:t>
            </a:r>
            <a:r>
              <a:rPr sz="1300" b="0" i="0">
                <a:solidFill>
                  <a:srgbClr val="475569"/>
                </a:solidFill>
                <a:latin typeface="Segoe UI"/>
              </a:rPr>
              <a:t>Marks incident IDs no tool returned</a:t>
            </a:r>
          </a:p>
          <a:p>
            <a:pPr algn="l">
              <a:spcAft>
                <a:spcPts val="600"/>
              </a:spcAft>
            </a:pPr>
            <a:r>
              <a:rPr sz="1300" b="1" i="0">
                <a:solidFill>
                  <a:srgbClr val="D97706"/>
                </a:solidFill>
                <a:latin typeface="Segoe UI"/>
              </a:rPr>
              <a:t>•  </a:t>
            </a:r>
            <a:r>
              <a:rPr sz="1300" b="0" i="0">
                <a:solidFill>
                  <a:srgbClr val="475569"/>
                </a:solidFill>
                <a:latin typeface="Segoe UI"/>
              </a:rPr>
              <a:t>Flags wrong figures and priorities</a:t>
            </a:r>
          </a:p>
          <a:p>
            <a:pPr algn="l">
              <a:spcAft>
                <a:spcPts val="600"/>
              </a:spcAft>
            </a:pPr>
            <a:r>
              <a:rPr sz="1300" b="1" i="0">
                <a:solidFill>
                  <a:srgbClr val="D97706"/>
                </a:solidFill>
                <a:latin typeface="Segoe UI"/>
              </a:rPr>
              <a:t>•  </a:t>
            </a:r>
            <a:r>
              <a:rPr sz="1300" b="0" i="0">
                <a:solidFill>
                  <a:srgbClr val="475569"/>
                </a:solidFill>
                <a:latin typeface="Segoe UI"/>
              </a:rPr>
              <a:t>Removes dangerous commands, adds caveats</a:t>
            </a:r>
          </a:p>
        </p:txBody>
      </p:sp>
      <p:sp>
        <p:nvSpPr>
          <p:cNvPr id="34" name="Rounded Rectangle 33"/>
          <p:cNvSpPr/>
          <p:nvPr/>
        </p:nvSpPr>
        <p:spPr>
          <a:xfrm>
            <a:off x="6233008" y="3200400"/>
            <a:ext cx="2567864" cy="2514600"/>
          </a:xfrm>
          <a:prstGeom prst="roundRect">
            <a:avLst>
              <a:gd name="adj" fmla="val 7000"/>
            </a:avLst>
          </a:prstGeom>
          <a:solidFill>
            <a:srgbClr val="FDF2F8"/>
          </a:solidFill>
          <a:ln w="15875">
            <a:solidFill>
              <a:srgbClr val="DB2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97600" y="3383280"/>
            <a:ext cx="54864" cy="329184"/>
          </a:xfrm>
          <a:prstGeom prst="rect">
            <a:avLst/>
          </a:prstGeom>
          <a:solidFill>
            <a:srgbClr val="DB2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5616" y="3328416"/>
            <a:ext cx="2156384" cy="233172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LLM-as-Judge + DeepEval</a:t>
            </a:r>
          </a:p>
          <a:p>
            <a:pPr algn="l">
              <a:spcAft>
                <a:spcPts val="600"/>
              </a:spcAft>
            </a:pPr>
            <a:r>
              <a:rPr sz="1300" b="1" i="0">
                <a:solidFill>
                  <a:srgbClr val="DB2777"/>
                </a:solidFill>
                <a:latin typeface="Segoe UI"/>
              </a:rPr>
              <a:t>•  </a:t>
            </a:r>
            <a:r>
              <a:rPr sz="1300" b="0" i="0">
                <a:solidFill>
                  <a:srgbClr val="475569"/>
                </a:solidFill>
                <a:latin typeface="Segoe UI"/>
              </a:rPr>
              <a:t>Faithfulness, correctness, relevance, actionability, safety</a:t>
            </a:r>
          </a:p>
          <a:p>
            <a:pPr algn="l">
              <a:spcAft>
                <a:spcPts val="600"/>
              </a:spcAft>
            </a:pPr>
            <a:r>
              <a:rPr sz="1300" b="1" i="0">
                <a:solidFill>
                  <a:srgbClr val="DB2777"/>
                </a:solidFill>
                <a:latin typeface="Segoe UI"/>
              </a:rPr>
              <a:t>•  </a:t>
            </a:r>
            <a:r>
              <a:rPr sz="1300" b="0" i="0">
                <a:solidFill>
                  <a:srgbClr val="475569"/>
                </a:solidFill>
                <a:latin typeface="Segoe UI"/>
              </a:rPr>
              <a:t>Rule caps; calibration 6/6</a:t>
            </a:r>
          </a:p>
          <a:p>
            <a:pPr algn="l">
              <a:spcAft>
                <a:spcPts val="600"/>
              </a:spcAft>
            </a:pPr>
            <a:r>
              <a:rPr sz="1300" b="1" i="0">
                <a:solidFill>
                  <a:srgbClr val="DB2777"/>
                </a:solidFill>
                <a:latin typeface="Segoe UI"/>
              </a:rPr>
              <a:t>•  </a:t>
            </a:r>
            <a:r>
              <a:rPr sz="1300" b="0" i="0">
                <a:solidFill>
                  <a:srgbClr val="475569"/>
                </a:solidFill>
                <a:latin typeface="Segoe UI"/>
              </a:rPr>
              <a:t>DeepEval: 24 cases, 5 metrics + exact checks</a:t>
            </a:r>
          </a:p>
        </p:txBody>
      </p:sp>
      <p:sp>
        <p:nvSpPr>
          <p:cNvPr id="37" name="Rounded Rectangle 36"/>
          <p:cNvSpPr/>
          <p:nvPr/>
        </p:nvSpPr>
        <p:spPr>
          <a:xfrm>
            <a:off x="9075191" y="3200400"/>
            <a:ext cx="2567864" cy="2514600"/>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239783" y="338328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67799" y="3328416"/>
            <a:ext cx="2156384" cy="2331720"/>
          </a:xfrm>
          <a:prstGeom prst="rect">
            <a:avLst/>
          </a:prstGeom>
          <a:noFill/>
        </p:spPr>
        <p:txBody>
          <a:bodyPr wrap="square" anchor="t" lIns="45720" rIns="45720" tIns="27432" bIns="27432">
            <a:spAutoFit/>
          </a:bodyPr>
          <a:lstStyle/>
          <a:p>
            <a:pPr algn="l">
              <a:spcAft>
                <a:spcPts val="600"/>
              </a:spcAft>
            </a:pPr>
            <a:r>
              <a:rPr sz="1600" b="1" i="0">
                <a:solidFill>
                  <a:srgbClr val="0F172A"/>
                </a:solidFill>
                <a:latin typeface="Segoe UI"/>
              </a:rPr>
              <a:t>Feedback loop</a:t>
            </a:r>
          </a:p>
          <a:p>
            <a:pPr algn="l">
              <a:spcAft>
                <a:spcPts val="600"/>
              </a:spcAft>
            </a:pPr>
            <a:r>
              <a:rPr sz="1300" b="1" i="0">
                <a:solidFill>
                  <a:srgbClr val="059669"/>
                </a:solidFill>
                <a:latin typeface="Segoe UI"/>
              </a:rPr>
              <a:t>•  </a:t>
            </a:r>
            <a:r>
              <a:rPr sz="1300" b="0" i="0">
                <a:solidFill>
                  <a:srgbClr val="475569"/>
                </a:solidFill>
                <a:latin typeface="Segoe UI"/>
              </a:rPr>
              <a:t>Thumbs up / down, comments, attack-type corrections</a:t>
            </a:r>
          </a:p>
          <a:p>
            <a:pPr algn="l">
              <a:spcAft>
                <a:spcPts val="600"/>
              </a:spcAft>
            </a:pPr>
            <a:r>
              <a:rPr sz="1300" b="1" i="0">
                <a:solidFill>
                  <a:srgbClr val="059669"/>
                </a:solidFill>
                <a:latin typeface="Segoe UI"/>
              </a:rPr>
              <a:t>•  </a:t>
            </a:r>
            <a:r>
              <a:rPr sz="1300" b="0" i="0">
                <a:solidFill>
                  <a:srgbClr val="475569"/>
                </a:solidFill>
                <a:latin typeface="Segoe UI"/>
              </a:rPr>
              <a:t>Corrections shown in later answers</a:t>
            </a:r>
          </a:p>
          <a:p>
            <a:pPr algn="l">
              <a:spcAft>
                <a:spcPts val="600"/>
              </a:spcAft>
            </a:pPr>
            <a:r>
              <a:rPr sz="1300" b="1" i="0">
                <a:solidFill>
                  <a:srgbClr val="059669"/>
                </a:solidFill>
                <a:latin typeface="Segoe UI"/>
              </a:rPr>
              <a:t>•  </a:t>
            </a:r>
            <a:r>
              <a:rPr sz="1300" b="0" i="0">
                <a:solidFill>
                  <a:srgbClr val="475569"/>
                </a:solidFill>
                <a:latin typeface="Segoe UI"/>
              </a:rPr>
              <a:t>Exportable for review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EACH ANALYST KEEPS THEIR OWN HISTORY</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User accounts and saved conversations</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11</a:t>
            </a:r>
          </a:p>
        </p:txBody>
      </p:sp>
      <p:sp>
        <p:nvSpPr>
          <p:cNvPr id="7" name="Rounded Rectangle 6"/>
          <p:cNvSpPr/>
          <p:nvPr/>
        </p:nvSpPr>
        <p:spPr>
          <a:xfrm>
            <a:off x="548640" y="1828800"/>
            <a:ext cx="2194560"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56232"/>
            <a:ext cx="210312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Sign-in page</a:t>
            </a:r>
          </a:p>
          <a:p>
            <a:pPr algn="ctr">
              <a:spcAft>
                <a:spcPts val="0"/>
              </a:spcAft>
            </a:pPr>
            <a:r>
              <a:rPr sz="1150" b="0" i="0">
                <a:solidFill>
                  <a:srgbClr val="475569"/>
                </a:solidFill>
                <a:latin typeface="Segoe UI"/>
              </a:rPr>
              <a:t>Streamlit: sign up, log in</a:t>
            </a:r>
          </a:p>
        </p:txBody>
      </p:sp>
      <p:sp>
        <p:nvSpPr>
          <p:cNvPr id="9" name="Rounded Rectangle 8"/>
          <p:cNvSpPr/>
          <p:nvPr/>
        </p:nvSpPr>
        <p:spPr>
          <a:xfrm>
            <a:off x="3291840" y="1828800"/>
            <a:ext cx="2377440"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1856232"/>
            <a:ext cx="22860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/auth endpoints</a:t>
            </a:r>
          </a:p>
          <a:p>
            <a:pPr algn="ctr">
              <a:spcAft>
                <a:spcPts val="0"/>
              </a:spcAft>
            </a:pPr>
            <a:r>
              <a:rPr sz="1150" b="0" i="0">
                <a:solidFill>
                  <a:srgbClr val="475569"/>
                </a:solidFill>
                <a:latin typeface="Segoe UI"/>
              </a:rPr>
              <a:t>scrypt hashing, tokens</a:t>
            </a:r>
          </a:p>
        </p:txBody>
      </p:sp>
      <p:sp>
        <p:nvSpPr>
          <p:cNvPr id="11" name="Rounded Rectangle 10"/>
          <p:cNvSpPr/>
          <p:nvPr/>
        </p:nvSpPr>
        <p:spPr>
          <a:xfrm>
            <a:off x="6583680" y="1828800"/>
            <a:ext cx="2377440"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856232"/>
            <a:ext cx="22860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users.db</a:t>
            </a:r>
          </a:p>
          <a:p>
            <a:pPr algn="ctr">
              <a:spcAft>
                <a:spcPts val="0"/>
              </a:spcAft>
            </a:pPr>
            <a:r>
              <a:rPr sz="1150" b="0" i="0">
                <a:solidFill>
                  <a:srgbClr val="475569"/>
                </a:solidFill>
                <a:latin typeface="Segoe UI"/>
              </a:rPr>
              <a:t>users, sessions, conversations</a:t>
            </a:r>
          </a:p>
        </p:txBody>
      </p:sp>
      <p:sp>
        <p:nvSpPr>
          <p:cNvPr id="13" name="Rounded Rectangle 12"/>
          <p:cNvSpPr/>
          <p:nvPr/>
        </p:nvSpPr>
        <p:spPr>
          <a:xfrm>
            <a:off x="548640" y="3291840"/>
            <a:ext cx="2194560" cy="914400"/>
          </a:xfrm>
          <a:prstGeom prst="roundRect">
            <a:avLst>
              <a:gd name="adj" fmla="val 12000"/>
            </a:avLst>
          </a:prstGeom>
          <a:solidFill>
            <a:srgbClr val="EFF6FF"/>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319272"/>
            <a:ext cx="210312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AI Assistant page</a:t>
            </a:r>
          </a:p>
          <a:p>
            <a:pPr algn="ctr">
              <a:spcAft>
                <a:spcPts val="0"/>
              </a:spcAft>
            </a:pPr>
            <a:r>
              <a:rPr sz="1150" b="0" i="0">
                <a:solidFill>
                  <a:srgbClr val="475569"/>
                </a:solidFill>
                <a:latin typeface="Segoe UI"/>
              </a:rPr>
              <a:t>chat + My conversations</a:t>
            </a:r>
          </a:p>
        </p:txBody>
      </p:sp>
      <p:sp>
        <p:nvSpPr>
          <p:cNvPr id="15" name="Rounded Rectangle 14"/>
          <p:cNvSpPr/>
          <p:nvPr/>
        </p:nvSpPr>
        <p:spPr>
          <a:xfrm>
            <a:off x="3291840" y="3291840"/>
            <a:ext cx="2377440" cy="914400"/>
          </a:xfrm>
          <a:prstGeom prst="roundRect">
            <a:avLst>
              <a:gd name="adj" fmla="val 12000"/>
            </a:avLst>
          </a:prstGeom>
          <a:solidFill>
            <a:srgbClr val="F5F3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37560" y="3319272"/>
            <a:ext cx="22860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/chat endpoints</a:t>
            </a:r>
          </a:p>
          <a:p>
            <a:pPr algn="ctr">
              <a:spcAft>
                <a:spcPts val="0"/>
              </a:spcAft>
            </a:pPr>
            <a:r>
              <a:rPr sz="1150" b="0" i="0">
                <a:solidFill>
                  <a:srgbClr val="475569"/>
                </a:solidFill>
                <a:latin typeface="Segoe UI"/>
              </a:rPr>
              <a:t>bearer token, owner check</a:t>
            </a:r>
          </a:p>
        </p:txBody>
      </p:sp>
      <p:sp>
        <p:nvSpPr>
          <p:cNvPr id="17" name="Rounded Rectangle 16"/>
          <p:cNvSpPr/>
          <p:nvPr/>
        </p:nvSpPr>
        <p:spPr>
          <a:xfrm>
            <a:off x="6583680" y="3291840"/>
            <a:ext cx="2377440" cy="914400"/>
          </a:xfrm>
          <a:prstGeom prst="roundRect">
            <a:avLst>
              <a:gd name="adj" fmla="val 12000"/>
            </a:avLst>
          </a:prstGeom>
          <a:solidFill>
            <a:srgbClr val="F1F5F9"/>
          </a:solidFill>
          <a:ln w="1905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3319272"/>
            <a:ext cx="2286000" cy="859536"/>
          </a:xfrm>
          <a:prstGeom prst="rect">
            <a:avLst/>
          </a:prstGeom>
          <a:noFill/>
        </p:spPr>
        <p:txBody>
          <a:bodyPr wrap="square" anchor="ctr" lIns="45720" rIns="45720" tIns="27432" bIns="27432">
            <a:spAutoFit/>
          </a:bodyPr>
          <a:lstStyle/>
          <a:p>
            <a:pPr algn="ctr">
              <a:spcAft>
                <a:spcPts val="200"/>
              </a:spcAft>
            </a:pPr>
            <a:r>
              <a:rPr sz="1400" b="1" i="0">
                <a:solidFill>
                  <a:srgbClr val="0F172A"/>
                </a:solidFill>
                <a:latin typeface="Segoe UI"/>
              </a:rPr>
              <a:t>checkpoints.db</a:t>
            </a:r>
          </a:p>
          <a:p>
            <a:pPr algn="ctr">
              <a:spcAft>
                <a:spcPts val="0"/>
              </a:spcAft>
            </a:pPr>
            <a:r>
              <a:rPr sz="1150" b="0" i="0">
                <a:solidFill>
                  <a:srgbClr val="475569"/>
                </a:solidFill>
                <a:latin typeface="Segoe UI"/>
              </a:rPr>
              <a:t>LangGraph SqliteSaver</a:t>
            </a:r>
          </a:p>
        </p:txBody>
      </p:sp>
      <p:cxnSp>
        <p:nvCxnSpPr>
          <p:cNvPr id="19" name="Connector 18"/>
          <p:cNvCxnSpPr/>
          <p:nvPr/>
        </p:nvCxnSpPr>
        <p:spPr>
          <a:xfrm>
            <a:off x="2743200" y="2286000"/>
            <a:ext cx="54864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669280" y="2286000"/>
            <a:ext cx="914400" cy="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743200" y="3749039"/>
            <a:ext cx="548640" cy="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669280" y="3749039"/>
            <a:ext cx="914400" cy="0"/>
          </a:xfrm>
          <a:prstGeom prst="line">
            <a:avLst/>
          </a:prstGeom>
          <a:ln w="22225">
            <a:solidFill>
              <a:srgbClr val="64748B"/>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480560" y="2743200"/>
            <a:ext cx="0" cy="548640"/>
          </a:xfrm>
          <a:prstGeom prst="line">
            <a:avLst/>
          </a:prstGeom>
          <a:ln w="22225">
            <a:solidFill>
              <a:srgbClr val="64748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53712" y="2907792"/>
            <a:ext cx="2377440" cy="274320"/>
          </a:xfrm>
          <a:prstGeom prst="rect">
            <a:avLst/>
          </a:prstGeom>
          <a:noFill/>
        </p:spPr>
        <p:txBody>
          <a:bodyPr wrap="square" anchor="t" lIns="45720" rIns="45720" tIns="27432" bIns="27432">
            <a:spAutoFit/>
          </a:bodyPr>
          <a:lstStyle/>
          <a:p>
            <a:pPr algn="l">
              <a:spcAft>
                <a:spcPts val="600"/>
              </a:spcAft>
            </a:pPr>
            <a:r>
              <a:rPr sz="1050" b="0" i="0">
                <a:solidFill>
                  <a:srgbClr val="475569"/>
                </a:solidFill>
                <a:latin typeface="Segoe UI"/>
              </a:rPr>
              <a:t>token</a:t>
            </a:r>
          </a:p>
        </p:txBody>
      </p:sp>
      <p:sp>
        <p:nvSpPr>
          <p:cNvPr id="25" name="TextBox 24"/>
          <p:cNvSpPr txBox="1"/>
          <p:nvPr/>
        </p:nvSpPr>
        <p:spPr>
          <a:xfrm>
            <a:off x="9281160" y="1783080"/>
            <a:ext cx="2359152" cy="2560320"/>
          </a:xfrm>
          <a:prstGeom prst="rect">
            <a:avLst/>
          </a:prstGeom>
          <a:noFill/>
        </p:spPr>
        <p:txBody>
          <a:bodyPr wrap="square" anchor="t" lIns="45720" rIns="45720" tIns="27432" bIns="27432">
            <a:spAutoFit/>
          </a:bodyPr>
          <a:lstStyle/>
          <a:p>
            <a:pPr algn="l">
              <a:spcAft>
                <a:spcPts val="800"/>
              </a:spcAft>
            </a:pPr>
            <a:r>
              <a:rPr sz="1350" b="1" i="0">
                <a:solidFill>
                  <a:srgbClr val="2563EB"/>
                </a:solidFill>
                <a:latin typeface="Segoe UI"/>
              </a:rPr>
              <a:t>•  </a:t>
            </a:r>
            <a:r>
              <a:rPr sz="1350" b="0" i="0">
                <a:solidFill>
                  <a:srgbClr val="0F172A"/>
                </a:solidFill>
                <a:latin typeface="Segoe UI"/>
              </a:rPr>
              <a:t>Sign up / log in / log out</a:t>
            </a:r>
          </a:p>
          <a:p>
            <a:pPr algn="l">
              <a:spcAft>
                <a:spcPts val="800"/>
              </a:spcAft>
            </a:pPr>
            <a:r>
              <a:rPr sz="1350" b="1" i="0">
                <a:solidFill>
                  <a:srgbClr val="2563EB"/>
                </a:solidFill>
                <a:latin typeface="Segoe UI"/>
              </a:rPr>
              <a:t>•  </a:t>
            </a:r>
            <a:r>
              <a:rPr sz="1350" b="0" i="0">
                <a:solidFill>
                  <a:srgbClr val="0F172A"/>
                </a:solidFill>
                <a:latin typeface="Segoe UI"/>
              </a:rPr>
              <a:t>Chats saved per user</a:t>
            </a:r>
          </a:p>
          <a:p>
            <a:pPr algn="l">
              <a:spcAft>
                <a:spcPts val="800"/>
              </a:spcAft>
            </a:pPr>
            <a:r>
              <a:rPr sz="1350" b="1" i="0">
                <a:solidFill>
                  <a:srgbClr val="2563EB"/>
                </a:solidFill>
                <a:latin typeface="Segoe UI"/>
              </a:rPr>
              <a:t>•  </a:t>
            </a:r>
            <a:r>
              <a:rPr sz="1350" b="0" i="0">
                <a:solidFill>
                  <a:srgbClr val="0F172A"/>
                </a:solidFill>
                <a:latin typeface="Segoe UI"/>
              </a:rPr>
              <a:t>Resume after restart</a:t>
            </a:r>
          </a:p>
        </p:txBody>
      </p:sp>
      <p:sp>
        <p:nvSpPr>
          <p:cNvPr id="26" name="Rounded Rectangle 25"/>
          <p:cNvSpPr/>
          <p:nvPr/>
        </p:nvSpPr>
        <p:spPr>
          <a:xfrm>
            <a:off x="548640" y="4572000"/>
            <a:ext cx="5410048" cy="1554480"/>
          </a:xfrm>
          <a:prstGeom prst="roundRect">
            <a:avLst>
              <a:gd name="adj" fmla="val 7000"/>
            </a:avLst>
          </a:prstGeom>
          <a:solidFill>
            <a:srgbClr val="FFFBEB"/>
          </a:solidFill>
          <a:ln w="15875">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3232" y="4754880"/>
            <a:ext cx="54864" cy="32918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4700016"/>
            <a:ext cx="4998568" cy="137160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Security</a:t>
            </a:r>
          </a:p>
          <a:p>
            <a:pPr algn="l">
              <a:spcAft>
                <a:spcPts val="600"/>
              </a:spcAft>
            </a:pPr>
            <a:r>
              <a:rPr sz="1250" b="1" i="0">
                <a:solidFill>
                  <a:srgbClr val="D97706"/>
                </a:solidFill>
                <a:latin typeface="Segoe UI"/>
              </a:rPr>
              <a:t>•  </a:t>
            </a:r>
            <a:r>
              <a:rPr sz="1250" b="0" i="0">
                <a:solidFill>
                  <a:srgbClr val="475569"/>
                </a:solidFill>
                <a:latin typeface="Segoe UI"/>
              </a:rPr>
              <a:t>Passwords hashed with scrypt; tokens random, only a SHA-256 digest stored</a:t>
            </a:r>
          </a:p>
          <a:p>
            <a:pPr algn="l">
              <a:spcAft>
                <a:spcPts val="600"/>
              </a:spcAft>
            </a:pPr>
            <a:r>
              <a:rPr sz="1250" b="1" i="0">
                <a:solidFill>
                  <a:srgbClr val="D97706"/>
                </a:solidFill>
                <a:latin typeface="Segoe UI"/>
              </a:rPr>
              <a:t>•  </a:t>
            </a:r>
            <a:r>
              <a:rPr sz="1250" b="0" i="0">
                <a:solidFill>
                  <a:srgbClr val="475569"/>
                </a:solidFill>
                <a:latin typeface="Segoe UI"/>
              </a:rPr>
              <a:t>Tokens expire after 7 days; logout revokes them; 5 failed logins in 5 min → blocked</a:t>
            </a:r>
          </a:p>
        </p:txBody>
      </p:sp>
      <p:sp>
        <p:nvSpPr>
          <p:cNvPr id="29" name="Rounded Rectangle 28"/>
          <p:cNvSpPr/>
          <p:nvPr/>
        </p:nvSpPr>
        <p:spPr>
          <a:xfrm>
            <a:off x="6233008" y="4572000"/>
            <a:ext cx="5410048" cy="1554480"/>
          </a:xfrm>
          <a:prstGeom prst="roundRect">
            <a:avLst>
              <a:gd name="adj" fmla="val 7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97600" y="4754880"/>
            <a:ext cx="54864"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25616" y="4700016"/>
            <a:ext cx="4998568" cy="1371600"/>
          </a:xfrm>
          <a:prstGeom prst="rect">
            <a:avLst/>
          </a:prstGeom>
          <a:noFill/>
        </p:spPr>
        <p:txBody>
          <a:bodyPr wrap="square" anchor="t" lIns="45720" rIns="45720" tIns="27432" bIns="27432">
            <a:spAutoFit/>
          </a:bodyPr>
          <a:lstStyle/>
          <a:p>
            <a:pPr algn="l">
              <a:spcAft>
                <a:spcPts val="600"/>
              </a:spcAft>
            </a:pPr>
            <a:r>
              <a:rPr sz="1500" b="1" i="0">
                <a:solidFill>
                  <a:srgbClr val="0F172A"/>
                </a:solidFill>
                <a:latin typeface="Segoe UI"/>
              </a:rPr>
              <a:t>Conversations</a:t>
            </a:r>
          </a:p>
          <a:p>
            <a:pPr algn="l">
              <a:spcAft>
                <a:spcPts val="600"/>
              </a:spcAft>
            </a:pPr>
            <a:r>
              <a:rPr sz="1250" b="1" i="0">
                <a:solidFill>
                  <a:srgbClr val="7C3AED"/>
                </a:solidFill>
                <a:latin typeface="Segoe UI"/>
              </a:rPr>
              <a:t>•  </a:t>
            </a:r>
            <a:r>
              <a:rPr sz="1250" b="0" i="0">
                <a:solidFill>
                  <a:srgbClr val="475569"/>
                </a:solidFill>
                <a:latin typeface="Segoe UI"/>
              </a:rPr>
              <a:t>List, resume, rename and delete your own chats</a:t>
            </a:r>
          </a:p>
          <a:p>
            <a:pPr algn="l">
              <a:spcAft>
                <a:spcPts val="600"/>
              </a:spcAft>
            </a:pPr>
            <a:r>
              <a:rPr sz="1250" b="1" i="0">
                <a:solidFill>
                  <a:srgbClr val="7C3AED"/>
                </a:solidFill>
                <a:latin typeface="Segoe UI"/>
              </a:rPr>
              <a:t>•  </a:t>
            </a:r>
            <a:r>
              <a:rPr sz="1250" b="0" i="0">
                <a:solidFill>
                  <a:srgbClr val="475569"/>
                </a:solidFill>
                <a:latin typeface="Segoe UI"/>
              </a:rPr>
              <a:t>Another user's chat returns 404; feedback records who gave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MEASURED, THEN IMPROVED</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Evaluation results and performance</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12</a:t>
            </a:r>
          </a:p>
        </p:txBody>
      </p:sp>
      <p:sp>
        <p:nvSpPr>
          <p:cNvPr id="7" name="Rounded Rectangle 6"/>
          <p:cNvSpPr/>
          <p:nvPr/>
        </p:nvSpPr>
        <p:spPr>
          <a:xfrm>
            <a:off x="548640" y="1600200"/>
            <a:ext cx="1620469" cy="1371600"/>
          </a:xfrm>
          <a:prstGeom prst="roundRect">
            <a:avLst>
              <a:gd name="adj" fmla="val 8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059669"/>
                </a:solidFill>
                <a:latin typeface="Segoe UI"/>
              </a:rPr>
              <a:t>0.97</a:t>
            </a:r>
          </a:p>
        </p:txBody>
      </p:sp>
      <p:sp>
        <p:nvSpPr>
          <p:cNvPr id="9" name="TextBox 8"/>
          <p:cNvSpPr txBox="1"/>
          <p:nvPr/>
        </p:nvSpPr>
        <p:spPr>
          <a:xfrm>
            <a:off x="640080"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faithfulness (DeepEval)</a:t>
            </a:r>
          </a:p>
        </p:txBody>
      </p:sp>
      <p:sp>
        <p:nvSpPr>
          <p:cNvPr id="10" name="Rounded Rectangle 9"/>
          <p:cNvSpPr/>
          <p:nvPr/>
        </p:nvSpPr>
        <p:spPr>
          <a:xfrm>
            <a:off x="2443429" y="1600200"/>
            <a:ext cx="1620469" cy="1371600"/>
          </a:xfrm>
          <a:prstGeom prst="roundRect">
            <a:avLst>
              <a:gd name="adj" fmla="val 8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43429"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059669"/>
                </a:solidFill>
                <a:latin typeface="Segoe UI"/>
              </a:rPr>
              <a:t>0.97</a:t>
            </a:r>
          </a:p>
        </p:txBody>
      </p:sp>
      <p:sp>
        <p:nvSpPr>
          <p:cNvPr id="12" name="TextBox 11"/>
          <p:cNvSpPr txBox="1"/>
          <p:nvPr/>
        </p:nvSpPr>
        <p:spPr>
          <a:xfrm>
            <a:off x="2534869"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answer relevancy</a:t>
            </a:r>
          </a:p>
        </p:txBody>
      </p:sp>
      <p:sp>
        <p:nvSpPr>
          <p:cNvPr id="13" name="Rounded Rectangle 12"/>
          <p:cNvSpPr/>
          <p:nvPr/>
        </p:nvSpPr>
        <p:spPr>
          <a:xfrm>
            <a:off x="4338218" y="1600200"/>
            <a:ext cx="1620469" cy="1371600"/>
          </a:xfrm>
          <a:prstGeom prst="roundRect">
            <a:avLst>
              <a:gd name="adj" fmla="val 8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38218"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2563EB"/>
                </a:solidFill>
                <a:latin typeface="Segoe UI"/>
              </a:rPr>
              <a:t>99%</a:t>
            </a:r>
          </a:p>
        </p:txBody>
      </p:sp>
      <p:sp>
        <p:nvSpPr>
          <p:cNvPr id="15" name="TextBox 14"/>
          <p:cNvSpPr txBox="1"/>
          <p:nvPr/>
        </p:nvSpPr>
        <p:spPr>
          <a:xfrm>
            <a:off x="4429658"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exact checks passed</a:t>
            </a:r>
          </a:p>
        </p:txBody>
      </p:sp>
      <p:sp>
        <p:nvSpPr>
          <p:cNvPr id="16" name="Rounded Rectangle 15"/>
          <p:cNvSpPr/>
          <p:nvPr/>
        </p:nvSpPr>
        <p:spPr>
          <a:xfrm>
            <a:off x="6233008" y="1600200"/>
            <a:ext cx="1620469" cy="1371600"/>
          </a:xfrm>
          <a:prstGeom prst="roundRect">
            <a:avLst>
              <a:gd name="adj" fmla="val 8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3008"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059669"/>
                </a:solidFill>
                <a:latin typeface="Segoe UI"/>
              </a:rPr>
              <a:t>0.93</a:t>
            </a:r>
          </a:p>
        </p:txBody>
      </p:sp>
      <p:sp>
        <p:nvSpPr>
          <p:cNvPr id="18" name="TextBox 17"/>
          <p:cNvSpPr txBox="1"/>
          <p:nvPr/>
        </p:nvSpPr>
        <p:spPr>
          <a:xfrm>
            <a:off x="6324448"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safety and caveats</a:t>
            </a:r>
          </a:p>
        </p:txBody>
      </p:sp>
      <p:sp>
        <p:nvSpPr>
          <p:cNvPr id="19" name="Rounded Rectangle 18"/>
          <p:cNvSpPr/>
          <p:nvPr/>
        </p:nvSpPr>
        <p:spPr>
          <a:xfrm>
            <a:off x="8127797" y="1600200"/>
            <a:ext cx="1620469" cy="1371600"/>
          </a:xfrm>
          <a:prstGeom prst="roundRect">
            <a:avLst>
              <a:gd name="adj" fmla="val 8000"/>
            </a:avLst>
          </a:prstGeom>
          <a:solidFill>
            <a:srgbClr val="F5F3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7797"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7C3AED"/>
                </a:solidFill>
                <a:latin typeface="Segoe UI"/>
              </a:rPr>
              <a:t>0.917</a:t>
            </a:r>
          </a:p>
        </p:txBody>
      </p:sp>
      <p:sp>
        <p:nvSpPr>
          <p:cNvPr id="21" name="TextBox 20"/>
          <p:cNvSpPr txBox="1"/>
          <p:nvPr/>
        </p:nvSpPr>
        <p:spPr>
          <a:xfrm>
            <a:off x="8219237"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hybrid search Hit@5</a:t>
            </a:r>
          </a:p>
        </p:txBody>
      </p:sp>
      <p:sp>
        <p:nvSpPr>
          <p:cNvPr id="22" name="Rounded Rectangle 21"/>
          <p:cNvSpPr/>
          <p:nvPr/>
        </p:nvSpPr>
        <p:spPr>
          <a:xfrm>
            <a:off x="10022586" y="1600200"/>
            <a:ext cx="1620469" cy="1371600"/>
          </a:xfrm>
          <a:prstGeom prst="roundRect">
            <a:avLst>
              <a:gd name="adj" fmla="val 8000"/>
            </a:avLst>
          </a:prstGeom>
          <a:solidFill>
            <a:srgbClr val="F1F5F9"/>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22586" y="1709928"/>
            <a:ext cx="1620469" cy="685800"/>
          </a:xfrm>
          <a:prstGeom prst="rect">
            <a:avLst/>
          </a:prstGeom>
          <a:noFill/>
        </p:spPr>
        <p:txBody>
          <a:bodyPr wrap="square" anchor="t" lIns="45720" rIns="45720" tIns="27432" bIns="27432">
            <a:spAutoFit/>
          </a:bodyPr>
          <a:lstStyle/>
          <a:p>
            <a:pPr algn="ctr">
              <a:spcAft>
                <a:spcPts val="600"/>
              </a:spcAft>
            </a:pPr>
            <a:r>
              <a:rPr sz="3000" b="1" i="0">
                <a:solidFill>
                  <a:srgbClr val="64748B"/>
                </a:solidFill>
                <a:latin typeface="Segoe UI"/>
              </a:rPr>
              <a:t>413</a:t>
            </a:r>
          </a:p>
        </p:txBody>
      </p:sp>
      <p:sp>
        <p:nvSpPr>
          <p:cNvPr id="24" name="TextBox 23"/>
          <p:cNvSpPr txBox="1"/>
          <p:nvPr/>
        </p:nvSpPr>
        <p:spPr>
          <a:xfrm>
            <a:off x="10114026" y="2377440"/>
            <a:ext cx="1437589" cy="548640"/>
          </a:xfrm>
          <a:prstGeom prst="rect">
            <a:avLst/>
          </a:prstGeom>
          <a:noFill/>
        </p:spPr>
        <p:txBody>
          <a:bodyPr wrap="square" anchor="t" lIns="45720" rIns="45720" tIns="27432" bIns="27432">
            <a:spAutoFit/>
          </a:bodyPr>
          <a:lstStyle/>
          <a:p>
            <a:pPr algn="ctr">
              <a:spcAft>
                <a:spcPts val="600"/>
              </a:spcAft>
            </a:pPr>
            <a:r>
              <a:rPr sz="1250" b="0" i="0">
                <a:solidFill>
                  <a:srgbClr val="475569"/>
                </a:solidFill>
                <a:latin typeface="Segoe UI"/>
              </a:rPr>
              <a:t>automated tests, all passing</a:t>
            </a:r>
          </a:p>
        </p:txBody>
      </p:sp>
      <p:graphicFrame>
        <p:nvGraphicFramePr>
          <p:cNvPr id="25" name="Table 24"/>
          <p:cNvGraphicFramePr>
            <a:graphicFrameLocks noGrp="1"/>
          </p:cNvGraphicFramePr>
          <p:nvPr/>
        </p:nvGraphicFramePr>
        <p:xfrm>
          <a:off x="548640" y="3246120"/>
          <a:ext cx="5577839" cy="2779776"/>
        </p:xfrm>
        <a:graphic>
          <a:graphicData uri="http://schemas.openxmlformats.org/drawingml/2006/table">
            <a:tbl>
              <a:tblPr firstRow="1" bandRow="1">
                <a:tableStyleId>{5C22544A-7EE6-4342-B048-85BDC9FD1C3A}</a:tableStyleId>
              </a:tblPr>
              <a:tblGrid>
                <a:gridCol w="3253739"/>
                <a:gridCol w="1162050"/>
                <a:gridCol w="1162050"/>
              </a:tblGrid>
              <a:tr h="347472">
                <a:tc>
                  <a:txBody>
                    <a:bodyPr wrap="square"/>
                    <a:lstStyle/>
                    <a:p>
                      <a:r>
                        <a:rPr sz="1300" b="1" i="0">
                          <a:solidFill>
                            <a:srgbClr val="1E3A8A"/>
                          </a:solidFill>
                          <a:latin typeface="Segoe UI"/>
                        </a:rPr>
                        <a:t>Quality (24 cases)</a:t>
                      </a:r>
                    </a:p>
                  </a:txBody>
                  <a:tcPr marL="73152" marR="73152" marT="36576" marB="36576" anchor="ctr">
                    <a:solidFill>
                      <a:srgbClr val="EFF6FF"/>
                    </a:solidFill>
                  </a:tcPr>
                </a:tc>
                <a:tc>
                  <a:txBody>
                    <a:bodyPr wrap="square"/>
                    <a:lstStyle/>
                    <a:p>
                      <a:r>
                        <a:rPr sz="1300" b="1" i="0">
                          <a:solidFill>
                            <a:srgbClr val="1E3A8A"/>
                          </a:solidFill>
                          <a:latin typeface="Segoe UI"/>
                        </a:rPr>
                        <a:t>Before</a:t>
                      </a:r>
                    </a:p>
                  </a:txBody>
                  <a:tcPr marL="73152" marR="73152" marT="36576" marB="36576" anchor="ctr">
                    <a:solidFill>
                      <a:srgbClr val="EFF6FF"/>
                    </a:solidFill>
                  </a:tcPr>
                </a:tc>
                <a:tc>
                  <a:txBody>
                    <a:bodyPr wrap="square"/>
                    <a:lstStyle/>
                    <a:p>
                      <a:r>
                        <a:rPr sz="1300" b="1" i="0">
                          <a:solidFill>
                            <a:srgbClr val="1E3A8A"/>
                          </a:solidFill>
                          <a:latin typeface="Segoe UI"/>
                        </a:rPr>
                        <a:t>After</a:t>
                      </a:r>
                    </a:p>
                  </a:txBody>
                  <a:tcPr marL="73152" marR="73152" marT="36576" marB="36576" anchor="ctr">
                    <a:solidFill>
                      <a:srgbClr val="EFF6FF"/>
                    </a:solidFill>
                  </a:tcPr>
                </a:tc>
              </a:tr>
              <a:tr h="347472">
                <a:tc>
                  <a:txBody>
                    <a:bodyPr wrap="square"/>
                    <a:lstStyle/>
                    <a:p>
                      <a:r>
                        <a:rPr sz="1300" b="0" i="0">
                          <a:solidFill>
                            <a:srgbClr val="0F172A"/>
                          </a:solidFill>
                          <a:latin typeface="Segoe UI"/>
                        </a:rPr>
                        <a:t>Exact checks</a:t>
                      </a:r>
                    </a:p>
                  </a:txBody>
                  <a:tcPr marL="73152" marR="73152" marT="36576" marB="36576" anchor="ctr">
                    <a:solidFill>
                      <a:srgbClr val="FFFFFF"/>
                    </a:solidFill>
                  </a:tcPr>
                </a:tc>
                <a:tc>
                  <a:txBody>
                    <a:bodyPr wrap="square"/>
                    <a:lstStyle/>
                    <a:p>
                      <a:r>
                        <a:rPr sz="1300" b="0" i="0">
                          <a:solidFill>
                            <a:srgbClr val="0F172A"/>
                          </a:solidFill>
                          <a:latin typeface="Segoe UI"/>
                        </a:rPr>
                        <a:t>98%</a:t>
                      </a:r>
                    </a:p>
                  </a:txBody>
                  <a:tcPr marL="73152" marR="73152" marT="36576" marB="36576" anchor="ctr">
                    <a:solidFill>
                      <a:srgbClr val="FFFFFF"/>
                    </a:solidFill>
                  </a:tcPr>
                </a:tc>
                <a:tc>
                  <a:txBody>
                    <a:bodyPr wrap="square"/>
                    <a:lstStyle/>
                    <a:p>
                      <a:r>
                        <a:rPr sz="1300" b="1" i="0">
                          <a:solidFill>
                            <a:srgbClr val="0F172A"/>
                          </a:solidFill>
                          <a:latin typeface="Segoe UI"/>
                        </a:rPr>
                        <a:t>99%</a:t>
                      </a:r>
                    </a:p>
                  </a:txBody>
                  <a:tcPr marL="73152" marR="73152" marT="36576" marB="36576" anchor="ctr">
                    <a:solidFill>
                      <a:srgbClr val="FFFFFF"/>
                    </a:solidFill>
                  </a:tcPr>
                </a:tc>
              </a:tr>
              <a:tr h="347472">
                <a:tc>
                  <a:txBody>
                    <a:bodyPr wrap="square"/>
                    <a:lstStyle/>
                    <a:p>
                      <a:r>
                        <a:rPr sz="1300" b="0" i="0">
                          <a:solidFill>
                            <a:srgbClr val="0F172A"/>
                          </a:solidFill>
                          <a:latin typeface="Segoe UI"/>
                        </a:rPr>
                        <a:t>Faithfulness</a:t>
                      </a:r>
                    </a:p>
                  </a:txBody>
                  <a:tcPr marL="73152" marR="73152" marT="36576" marB="36576" anchor="ctr">
                    <a:solidFill>
                      <a:srgbClr val="F8FAFC"/>
                    </a:solidFill>
                  </a:tcPr>
                </a:tc>
                <a:tc>
                  <a:txBody>
                    <a:bodyPr wrap="square"/>
                    <a:lstStyle/>
                    <a:p>
                      <a:r>
                        <a:rPr sz="1300" b="0" i="0">
                          <a:solidFill>
                            <a:srgbClr val="0F172A"/>
                          </a:solidFill>
                          <a:latin typeface="Segoe UI"/>
                        </a:rPr>
                        <a:t>0.95</a:t>
                      </a:r>
                    </a:p>
                  </a:txBody>
                  <a:tcPr marL="73152" marR="73152" marT="36576" marB="36576" anchor="ctr">
                    <a:solidFill>
                      <a:srgbClr val="F8FAFC"/>
                    </a:solidFill>
                  </a:tcPr>
                </a:tc>
                <a:tc>
                  <a:txBody>
                    <a:bodyPr wrap="square"/>
                    <a:lstStyle/>
                    <a:p>
                      <a:r>
                        <a:rPr sz="1300" b="1" i="0">
                          <a:solidFill>
                            <a:srgbClr val="0F172A"/>
                          </a:solidFill>
                          <a:latin typeface="Segoe UI"/>
                        </a:rPr>
                        <a:t>0.97</a:t>
                      </a:r>
                    </a:p>
                  </a:txBody>
                  <a:tcPr marL="73152" marR="73152" marT="36576" marB="36576" anchor="ctr">
                    <a:solidFill>
                      <a:srgbClr val="F8FAFC"/>
                    </a:solidFill>
                  </a:tcPr>
                </a:tc>
              </a:tr>
              <a:tr h="347472">
                <a:tc>
                  <a:txBody>
                    <a:bodyPr wrap="square"/>
                    <a:lstStyle/>
                    <a:p>
                      <a:r>
                        <a:rPr sz="1300" b="0" i="0">
                          <a:solidFill>
                            <a:srgbClr val="0F172A"/>
                          </a:solidFill>
                          <a:latin typeface="Segoe UI"/>
                        </a:rPr>
                        <a:t>Answer relevancy</a:t>
                      </a:r>
                    </a:p>
                  </a:txBody>
                  <a:tcPr marL="73152" marR="73152" marT="36576" marB="36576" anchor="ctr">
                    <a:solidFill>
                      <a:srgbClr val="FFFFFF"/>
                    </a:solidFill>
                  </a:tcPr>
                </a:tc>
                <a:tc>
                  <a:txBody>
                    <a:bodyPr wrap="square"/>
                    <a:lstStyle/>
                    <a:p>
                      <a:r>
                        <a:rPr sz="1300" b="0" i="0">
                          <a:solidFill>
                            <a:srgbClr val="0F172A"/>
                          </a:solidFill>
                          <a:latin typeface="Segoe UI"/>
                        </a:rPr>
                        <a:t>0.95</a:t>
                      </a:r>
                    </a:p>
                  </a:txBody>
                  <a:tcPr marL="73152" marR="73152" marT="36576" marB="36576" anchor="ctr">
                    <a:solidFill>
                      <a:srgbClr val="FFFFFF"/>
                    </a:solidFill>
                  </a:tcPr>
                </a:tc>
                <a:tc>
                  <a:txBody>
                    <a:bodyPr wrap="square"/>
                    <a:lstStyle/>
                    <a:p>
                      <a:r>
                        <a:rPr sz="1300" b="1" i="0">
                          <a:solidFill>
                            <a:srgbClr val="0F172A"/>
                          </a:solidFill>
                          <a:latin typeface="Segoe UI"/>
                        </a:rPr>
                        <a:t>0.97</a:t>
                      </a:r>
                    </a:p>
                  </a:txBody>
                  <a:tcPr marL="73152" marR="73152" marT="36576" marB="36576" anchor="ctr">
                    <a:solidFill>
                      <a:srgbClr val="FFFFFF"/>
                    </a:solidFill>
                  </a:tcPr>
                </a:tc>
              </a:tr>
              <a:tr h="347472">
                <a:tc>
                  <a:txBody>
                    <a:bodyPr wrap="square"/>
                    <a:lstStyle/>
                    <a:p>
                      <a:r>
                        <a:rPr sz="1300" b="0" i="0">
                          <a:solidFill>
                            <a:srgbClr val="0F172A"/>
                          </a:solidFill>
                          <a:latin typeface="Segoe UI"/>
                        </a:rPr>
                        <a:t>Recommendation</a:t>
                      </a:r>
                    </a:p>
                  </a:txBody>
                  <a:tcPr marL="73152" marR="73152" marT="36576" marB="36576" anchor="ctr">
                    <a:solidFill>
                      <a:srgbClr val="F8FAFC"/>
                    </a:solidFill>
                  </a:tcPr>
                </a:tc>
                <a:tc>
                  <a:txBody>
                    <a:bodyPr wrap="square"/>
                    <a:lstStyle/>
                    <a:p>
                      <a:r>
                        <a:rPr sz="1300" b="0" i="0">
                          <a:solidFill>
                            <a:srgbClr val="0F172A"/>
                          </a:solidFill>
                          <a:latin typeface="Segoe UI"/>
                        </a:rPr>
                        <a:t>0.88</a:t>
                      </a:r>
                    </a:p>
                  </a:txBody>
                  <a:tcPr marL="73152" marR="73152" marT="36576" marB="36576" anchor="ctr">
                    <a:solidFill>
                      <a:srgbClr val="F8FAFC"/>
                    </a:solidFill>
                  </a:tcPr>
                </a:tc>
                <a:tc>
                  <a:txBody>
                    <a:bodyPr wrap="square"/>
                    <a:lstStyle/>
                    <a:p>
                      <a:r>
                        <a:rPr sz="1300" b="1" i="0">
                          <a:solidFill>
                            <a:srgbClr val="0F172A"/>
                          </a:solidFill>
                          <a:latin typeface="Segoe UI"/>
                        </a:rPr>
                        <a:t>0.92</a:t>
                      </a:r>
                    </a:p>
                  </a:txBody>
                  <a:tcPr marL="73152" marR="73152" marT="36576" marB="36576" anchor="ctr">
                    <a:solidFill>
                      <a:srgbClr val="F8FAFC"/>
                    </a:solidFill>
                  </a:tcPr>
                </a:tc>
              </a:tr>
              <a:tr h="347472">
                <a:tc>
                  <a:txBody>
                    <a:bodyPr wrap="square"/>
                    <a:lstStyle/>
                    <a:p>
                      <a:r>
                        <a:rPr sz="1300" b="0" i="0">
                          <a:solidFill>
                            <a:srgbClr val="0F172A"/>
                          </a:solidFill>
                          <a:latin typeface="Segoe UI"/>
                        </a:rPr>
                        <a:t>Safety</a:t>
                      </a:r>
                    </a:p>
                  </a:txBody>
                  <a:tcPr marL="73152" marR="73152" marT="36576" marB="36576" anchor="ctr">
                    <a:solidFill>
                      <a:srgbClr val="FFFFFF"/>
                    </a:solidFill>
                  </a:tcPr>
                </a:tc>
                <a:tc>
                  <a:txBody>
                    <a:bodyPr wrap="square"/>
                    <a:lstStyle/>
                    <a:p>
                      <a:r>
                        <a:rPr sz="1300" b="0" i="0">
                          <a:solidFill>
                            <a:srgbClr val="0F172A"/>
                          </a:solidFill>
                          <a:latin typeface="Segoe UI"/>
                        </a:rPr>
                        <a:t>0.92</a:t>
                      </a:r>
                    </a:p>
                  </a:txBody>
                  <a:tcPr marL="73152" marR="73152" marT="36576" marB="36576" anchor="ctr">
                    <a:solidFill>
                      <a:srgbClr val="FFFFFF"/>
                    </a:solidFill>
                  </a:tcPr>
                </a:tc>
                <a:tc>
                  <a:txBody>
                    <a:bodyPr wrap="square"/>
                    <a:lstStyle/>
                    <a:p>
                      <a:r>
                        <a:rPr sz="1300" b="1" i="0">
                          <a:solidFill>
                            <a:srgbClr val="0F172A"/>
                          </a:solidFill>
                          <a:latin typeface="Segoe UI"/>
                        </a:rPr>
                        <a:t>0.93</a:t>
                      </a:r>
                    </a:p>
                  </a:txBody>
                  <a:tcPr marL="73152" marR="73152" marT="36576" marB="36576" anchor="ctr">
                    <a:solidFill>
                      <a:srgbClr val="FFFFFF"/>
                    </a:solidFill>
                  </a:tcPr>
                </a:tc>
              </a:tr>
              <a:tr h="347472">
                <a:tc>
                  <a:txBody>
                    <a:bodyPr wrap="square"/>
                    <a:lstStyle/>
                    <a:p>
                      <a:r>
                        <a:rPr sz="1300" b="0" i="0">
                          <a:solidFill>
                            <a:srgbClr val="0F172A"/>
                          </a:solidFill>
                          <a:latin typeface="Segoe UI"/>
                        </a:rPr>
                        <a:t>Contextual relevancy</a:t>
                      </a:r>
                    </a:p>
                  </a:txBody>
                  <a:tcPr marL="73152" marR="73152" marT="36576" marB="36576" anchor="ctr">
                    <a:solidFill>
                      <a:srgbClr val="F8FAFC"/>
                    </a:solidFill>
                  </a:tcPr>
                </a:tc>
                <a:tc>
                  <a:txBody>
                    <a:bodyPr wrap="square"/>
                    <a:lstStyle/>
                    <a:p>
                      <a:r>
                        <a:rPr sz="1300" b="0" i="0">
                          <a:solidFill>
                            <a:srgbClr val="0F172A"/>
                          </a:solidFill>
                          <a:latin typeface="Segoe UI"/>
                        </a:rPr>
                        <a:t>0.85</a:t>
                      </a:r>
                    </a:p>
                  </a:txBody>
                  <a:tcPr marL="73152" marR="73152" marT="36576" marB="36576" anchor="ctr">
                    <a:solidFill>
                      <a:srgbClr val="F8FAFC"/>
                    </a:solidFill>
                  </a:tcPr>
                </a:tc>
                <a:tc>
                  <a:txBody>
                    <a:bodyPr wrap="square"/>
                    <a:lstStyle/>
                    <a:p>
                      <a:r>
                        <a:rPr sz="1300" b="0" i="0">
                          <a:solidFill>
                            <a:srgbClr val="0F172A"/>
                          </a:solidFill>
                          <a:latin typeface="Segoe UI"/>
                        </a:rPr>
                        <a:t>0.75*</a:t>
                      </a:r>
                    </a:p>
                  </a:txBody>
                  <a:tcPr marL="73152" marR="73152" marT="36576" marB="36576" anchor="ctr">
                    <a:solidFill>
                      <a:srgbClr val="F8FAFC"/>
                    </a:solidFill>
                  </a:tcPr>
                </a:tc>
              </a:tr>
              <a:tr h="347472">
                <a:tc>
                  <a:txBody>
                    <a:bodyPr wrap="square"/>
                    <a:lstStyle/>
                    <a:p>
                      <a:r>
                        <a:rPr sz="1300" b="0" i="0">
                          <a:solidFill>
                            <a:srgbClr val="0F172A"/>
                          </a:solidFill>
                          <a:latin typeface="Segoe UI"/>
                        </a:rPr>
                        <a:t>Judge vs DeepEval agreement</a:t>
                      </a:r>
                    </a:p>
                  </a:txBody>
                  <a:tcPr marL="73152" marR="73152" marT="36576" marB="36576" anchor="ctr">
                    <a:solidFill>
                      <a:srgbClr val="FFFFFF"/>
                    </a:solidFill>
                  </a:tcPr>
                </a:tc>
                <a:tc>
                  <a:txBody>
                    <a:bodyPr wrap="square"/>
                    <a:lstStyle/>
                    <a:p>
                      <a:r>
                        <a:rPr sz="1300" b="0" i="0">
                          <a:solidFill>
                            <a:srgbClr val="0F172A"/>
                          </a:solidFill>
                          <a:latin typeface="Segoe UI"/>
                        </a:rPr>
                        <a:t>67%</a:t>
                      </a:r>
                    </a:p>
                  </a:txBody>
                  <a:tcPr marL="73152" marR="73152" marT="36576" marB="36576" anchor="ctr">
                    <a:solidFill>
                      <a:srgbClr val="FFFFFF"/>
                    </a:solidFill>
                  </a:tcPr>
                </a:tc>
                <a:tc>
                  <a:txBody>
                    <a:bodyPr wrap="square"/>
                    <a:lstStyle/>
                    <a:p>
                      <a:r>
                        <a:rPr sz="1300" b="1" i="0">
                          <a:solidFill>
                            <a:srgbClr val="0F172A"/>
                          </a:solidFill>
                          <a:latin typeface="Segoe UI"/>
                        </a:rPr>
                        <a:t>81%</a:t>
                      </a:r>
                    </a:p>
                  </a:txBody>
                  <a:tcPr marL="73152" marR="73152" marT="36576" marB="36576" anchor="ctr">
                    <a:solidFill>
                      <a:srgbClr val="FFFFFF"/>
                    </a:solidFill>
                  </a:tcPr>
                </a:tc>
              </a:tr>
            </a:tbl>
          </a:graphicData>
        </a:graphic>
      </p:graphicFrame>
      <p:graphicFrame>
        <p:nvGraphicFramePr>
          <p:cNvPr id="26" name="Table 25"/>
          <p:cNvGraphicFramePr>
            <a:graphicFrameLocks noGrp="1"/>
          </p:cNvGraphicFramePr>
          <p:nvPr/>
        </p:nvGraphicFramePr>
        <p:xfrm>
          <a:off x="6400800" y="3246120"/>
          <a:ext cx="5239512" cy="1097280"/>
        </p:xfrm>
        <a:graphic>
          <a:graphicData uri="http://schemas.openxmlformats.org/drawingml/2006/table">
            <a:tbl>
              <a:tblPr firstRow="1" bandRow="1">
                <a:tableStyleId>{5C22544A-7EE6-4342-B048-85BDC9FD1C3A}</a:tableStyleId>
              </a:tblPr>
              <a:tblGrid>
                <a:gridCol w="2619756"/>
                <a:gridCol w="1309878"/>
                <a:gridCol w="1309878"/>
              </a:tblGrid>
              <a:tr h="365760">
                <a:tc>
                  <a:txBody>
                    <a:bodyPr wrap="square"/>
                    <a:lstStyle/>
                    <a:p>
                      <a:r>
                        <a:rPr sz="1300" b="1" i="0">
                          <a:solidFill>
                            <a:srgbClr val="1E3A8A"/>
                          </a:solidFill>
                          <a:latin typeface="Segoe UI"/>
                        </a:rPr>
                        <a:t>Response time</a:t>
                      </a:r>
                    </a:p>
                  </a:txBody>
                  <a:tcPr marL="73152" marR="73152" marT="36576" marB="36576" anchor="ctr">
                    <a:solidFill>
                      <a:srgbClr val="EFF6FF"/>
                    </a:solidFill>
                  </a:tcPr>
                </a:tc>
                <a:tc>
                  <a:txBody>
                    <a:bodyPr wrap="square"/>
                    <a:lstStyle/>
                    <a:p>
                      <a:r>
                        <a:rPr sz="1300" b="1" i="0">
                          <a:solidFill>
                            <a:srgbClr val="1E3A8A"/>
                          </a:solidFill>
                          <a:latin typeface="Segoe UI"/>
                        </a:rPr>
                        <a:t>Before</a:t>
                      </a:r>
                    </a:p>
                  </a:txBody>
                  <a:tcPr marL="73152" marR="73152" marT="36576" marB="36576" anchor="ctr">
                    <a:solidFill>
                      <a:srgbClr val="EFF6FF"/>
                    </a:solidFill>
                  </a:tcPr>
                </a:tc>
                <a:tc>
                  <a:txBody>
                    <a:bodyPr wrap="square"/>
                    <a:lstStyle/>
                    <a:p>
                      <a:r>
                        <a:rPr sz="1300" b="1" i="0">
                          <a:solidFill>
                            <a:srgbClr val="1E3A8A"/>
                          </a:solidFill>
                          <a:latin typeface="Segoe UI"/>
                        </a:rPr>
                        <a:t>After</a:t>
                      </a:r>
                    </a:p>
                  </a:txBody>
                  <a:tcPr marL="73152" marR="73152" marT="36576" marB="36576" anchor="ctr">
                    <a:solidFill>
                      <a:srgbClr val="EFF6FF"/>
                    </a:solidFill>
                  </a:tcPr>
                </a:tc>
              </a:tr>
              <a:tr h="365760">
                <a:tc>
                  <a:txBody>
                    <a:bodyPr wrap="square"/>
                    <a:lstStyle/>
                    <a:p>
                      <a:r>
                        <a:rPr sz="1300" b="0" i="0">
                          <a:solidFill>
                            <a:srgbClr val="0F172A"/>
                          </a:solidFill>
                          <a:latin typeface="Segoe UI"/>
                        </a:rPr>
                        <a:t>Full investigation</a:t>
                      </a:r>
                    </a:p>
                  </a:txBody>
                  <a:tcPr marL="73152" marR="73152" marT="36576" marB="36576" anchor="ctr">
                    <a:solidFill>
                      <a:srgbClr val="FFFFFF"/>
                    </a:solidFill>
                  </a:tcPr>
                </a:tc>
                <a:tc>
                  <a:txBody>
                    <a:bodyPr wrap="square"/>
                    <a:lstStyle/>
                    <a:p>
                      <a:r>
                        <a:rPr sz="1300" b="0" i="0">
                          <a:solidFill>
                            <a:srgbClr val="0F172A"/>
                          </a:solidFill>
                          <a:latin typeface="Segoe UI"/>
                        </a:rPr>
                        <a:t>72–133 s</a:t>
                      </a:r>
                    </a:p>
                  </a:txBody>
                  <a:tcPr marL="73152" marR="73152" marT="36576" marB="36576" anchor="ctr">
                    <a:solidFill>
                      <a:srgbClr val="FFFFFF"/>
                    </a:solidFill>
                  </a:tcPr>
                </a:tc>
                <a:tc>
                  <a:txBody>
                    <a:bodyPr wrap="square"/>
                    <a:lstStyle/>
                    <a:p>
                      <a:r>
                        <a:rPr sz="1300" b="1" i="0">
                          <a:solidFill>
                            <a:srgbClr val="0F172A"/>
                          </a:solidFill>
                          <a:latin typeface="Segoe UI"/>
                        </a:rPr>
                        <a:t>54–68 s</a:t>
                      </a:r>
                    </a:p>
                  </a:txBody>
                  <a:tcPr marL="73152" marR="73152" marT="36576" marB="36576" anchor="ctr">
                    <a:solidFill>
                      <a:srgbClr val="FFFFFF"/>
                    </a:solidFill>
                  </a:tcPr>
                </a:tc>
              </a:tr>
              <a:tr h="365760">
                <a:tc>
                  <a:txBody>
                    <a:bodyPr wrap="square"/>
                    <a:lstStyle/>
                    <a:p>
                      <a:r>
                        <a:rPr sz="1300" b="0" i="0">
                          <a:solidFill>
                            <a:srgbClr val="0F172A"/>
                          </a:solidFill>
                          <a:latin typeface="Segoe UI"/>
                        </a:rPr>
                        <a:t>Simple question</a:t>
                      </a:r>
                    </a:p>
                  </a:txBody>
                  <a:tcPr marL="73152" marR="73152" marT="36576" marB="36576" anchor="ctr">
                    <a:solidFill>
                      <a:srgbClr val="F8FAFC"/>
                    </a:solidFill>
                  </a:tcPr>
                </a:tc>
                <a:tc>
                  <a:txBody>
                    <a:bodyPr wrap="square"/>
                    <a:lstStyle/>
                    <a:p>
                      <a:r>
                        <a:rPr sz="1300" b="0" i="0">
                          <a:solidFill>
                            <a:srgbClr val="0F172A"/>
                          </a:solidFill>
                          <a:latin typeface="Segoe UI"/>
                        </a:rPr>
                        <a:t>16–23 s</a:t>
                      </a:r>
                    </a:p>
                  </a:txBody>
                  <a:tcPr marL="73152" marR="73152" marT="36576" marB="36576" anchor="ctr">
                    <a:solidFill>
                      <a:srgbClr val="F8FAFC"/>
                    </a:solidFill>
                  </a:tcPr>
                </a:tc>
                <a:tc>
                  <a:txBody>
                    <a:bodyPr wrap="square"/>
                    <a:lstStyle/>
                    <a:p>
                      <a:r>
                        <a:rPr sz="1300" b="1" i="0">
                          <a:solidFill>
                            <a:srgbClr val="0F172A"/>
                          </a:solidFill>
                          <a:latin typeface="Segoe UI"/>
                        </a:rPr>
                        <a:t>7–13 s</a:t>
                      </a:r>
                    </a:p>
                  </a:txBody>
                  <a:tcPr marL="73152" marR="73152" marT="36576" marB="36576" anchor="ctr">
                    <a:solidFill>
                      <a:srgbClr val="F8FAFC"/>
                    </a:solidFill>
                  </a:tcPr>
                </a:tc>
              </a:tr>
            </a:tbl>
          </a:graphicData>
        </a:graphic>
      </p:graphicFrame>
      <p:sp>
        <p:nvSpPr>
          <p:cNvPr id="27" name="TextBox 26"/>
          <p:cNvSpPr txBox="1"/>
          <p:nvPr/>
        </p:nvSpPr>
        <p:spPr>
          <a:xfrm>
            <a:off x="6400800" y="4526280"/>
            <a:ext cx="5239512" cy="1645920"/>
          </a:xfrm>
          <a:prstGeom prst="rect">
            <a:avLst/>
          </a:prstGeom>
          <a:noFill/>
        </p:spPr>
        <p:txBody>
          <a:bodyPr wrap="square" anchor="t" lIns="45720" rIns="45720" tIns="27432" bIns="27432">
            <a:spAutoFit/>
          </a:bodyPr>
          <a:lstStyle/>
          <a:p>
            <a:pPr algn="l">
              <a:spcAft>
                <a:spcPts val="600"/>
              </a:spcAft>
            </a:pPr>
            <a:r>
              <a:rPr sz="1350" b="1" i="0">
                <a:solidFill>
                  <a:srgbClr val="2563EB"/>
                </a:solidFill>
                <a:latin typeface="Segoe UI"/>
              </a:rPr>
              <a:t>•  </a:t>
            </a:r>
            <a:r>
              <a:rPr sz="1350" b="0" i="0">
                <a:solidFill>
                  <a:srgbClr val="0F172A"/>
                </a:solidFill>
                <a:latin typeface="Segoe UI"/>
              </a:rPr>
              <a:t>Investigations run agents in </a:t>
            </a:r>
            <a:r>
              <a:rPr sz="1350" b="1" i="0">
                <a:solidFill>
                  <a:srgbClr val="0F172A"/>
                </a:solidFill>
                <a:latin typeface="Segoe UI"/>
              </a:rPr>
              <a:t>2 parallel stages</a:t>
            </a:r>
          </a:p>
          <a:p>
            <a:pPr algn="l">
              <a:spcAft>
                <a:spcPts val="600"/>
              </a:spcAft>
            </a:pPr>
            <a:r>
              <a:rPr sz="1350" b="1" i="0">
                <a:solidFill>
                  <a:srgbClr val="2563EB"/>
                </a:solidFill>
                <a:latin typeface="Segoe UI"/>
              </a:rPr>
              <a:t>•  </a:t>
            </a:r>
            <a:r>
              <a:rPr sz="1350" b="0" i="0">
                <a:solidFill>
                  <a:srgbClr val="0F172A"/>
                </a:solidFill>
                <a:latin typeface="Segoe UI"/>
              </a:rPr>
              <a:t>Single-agent questions </a:t>
            </a:r>
            <a:r>
              <a:rPr sz="1350" b="1" i="0">
                <a:solidFill>
                  <a:srgbClr val="0F172A"/>
                </a:solidFill>
                <a:latin typeface="Segoe UI"/>
              </a:rPr>
              <a:t>skip the rewrite</a:t>
            </a:r>
          </a:p>
          <a:p>
            <a:pPr algn="l">
              <a:spcAft>
                <a:spcPts val="600"/>
              </a:spcAft>
            </a:pPr>
            <a:r>
              <a:rPr sz="1350" b="1" i="0">
                <a:solidFill>
                  <a:srgbClr val="2563EB"/>
                </a:solidFill>
                <a:latin typeface="Segoe UI"/>
              </a:rPr>
              <a:t>•  </a:t>
            </a:r>
            <a:r>
              <a:rPr sz="1350" b="0" i="0">
                <a:solidFill>
                  <a:srgbClr val="0F172A"/>
                </a:solidFill>
                <a:latin typeface="Segoe UI"/>
              </a:rPr>
              <a:t>Evaluation found and fixed 4 real defects</a:t>
            </a:r>
          </a:p>
        </p:txBody>
      </p:sp>
      <p:sp>
        <p:nvSpPr>
          <p:cNvPr id="28" name="TextBox 27"/>
          <p:cNvSpPr txBox="1"/>
          <p:nvPr/>
        </p:nvSpPr>
        <p:spPr>
          <a:xfrm>
            <a:off x="6400800" y="5623560"/>
            <a:ext cx="5239512" cy="548640"/>
          </a:xfrm>
          <a:prstGeom prst="rect">
            <a:avLst/>
          </a:prstGeom>
          <a:noFill/>
        </p:spPr>
        <p:txBody>
          <a:bodyPr wrap="square" anchor="t" lIns="45720" rIns="45720" tIns="27432" bIns="27432">
            <a:spAutoFit/>
          </a:bodyPr>
          <a:lstStyle/>
          <a:p>
            <a:pPr algn="l">
              <a:spcAft>
                <a:spcPts val="600"/>
              </a:spcAft>
            </a:pPr>
            <a:r>
              <a:rPr sz="1100" b="0" i="0">
                <a:solidFill>
                  <a:srgbClr val="475569"/>
                </a:solidFill>
                <a:latin typeface="Segoe UI"/>
              </a:rPr>
              <a:t>* The evaluator misread 2 correctly filtered searches (right attack type, right incidents)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WHAT WAS HARD AND WHAT WE LEARNED</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Challenges and learnings</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13</a:t>
            </a:r>
          </a:p>
        </p:txBody>
      </p:sp>
      <p:sp>
        <p:nvSpPr>
          <p:cNvPr id="7" name="Rounded Rectangle 6"/>
          <p:cNvSpPr/>
          <p:nvPr/>
        </p:nvSpPr>
        <p:spPr>
          <a:xfrm>
            <a:off x="548640" y="1600200"/>
            <a:ext cx="5364328" cy="3749039"/>
          </a:xfrm>
          <a:prstGeom prst="roundRect">
            <a:avLst>
              <a:gd name="adj" fmla="val 7000"/>
            </a:avLst>
          </a:prstGeom>
          <a:solidFill>
            <a:srgbClr val="FEF2F2"/>
          </a:solidFill>
          <a:ln w="15875">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783080"/>
            <a:ext cx="54864" cy="32918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728216"/>
            <a:ext cx="4952848" cy="3566159"/>
          </a:xfrm>
          <a:prstGeom prst="rect">
            <a:avLst/>
          </a:prstGeom>
          <a:noFill/>
        </p:spPr>
        <p:txBody>
          <a:bodyPr wrap="square" anchor="t" lIns="45720" rIns="45720" tIns="27432" bIns="27432">
            <a:spAutoFit/>
          </a:bodyPr>
          <a:lstStyle/>
          <a:p>
            <a:pPr algn="l">
              <a:spcAft>
                <a:spcPts val="600"/>
              </a:spcAft>
            </a:pPr>
            <a:r>
              <a:rPr sz="2100" b="1" i="0">
                <a:solidFill>
                  <a:srgbClr val="0F172A"/>
                </a:solidFill>
                <a:latin typeface="Segoe UI"/>
              </a:rPr>
              <a:t>Challenges</a:t>
            </a:r>
          </a:p>
          <a:p>
            <a:pPr algn="l">
              <a:spcAft>
                <a:spcPts val="600"/>
              </a:spcAft>
            </a:pPr>
            <a:r>
              <a:rPr sz="1450" b="1" i="0">
                <a:solidFill>
                  <a:srgbClr val="DC2626"/>
                </a:solidFill>
                <a:latin typeface="Segoe UI"/>
              </a:rPr>
              <a:t>•  </a:t>
            </a:r>
            <a:r>
              <a:rPr sz="1450" b="0" i="0">
                <a:solidFill>
                  <a:srgbClr val="475569"/>
                </a:solidFill>
                <a:latin typeface="Segoe UI"/>
              </a:rPr>
              <a:t>Dataset has no IP, protocol or timestamp: filters built, but only attack type, port and numbers have data</a:t>
            </a:r>
          </a:p>
          <a:p>
            <a:pPr algn="l">
              <a:spcAft>
                <a:spcPts val="600"/>
              </a:spcAft>
            </a:pPr>
            <a:r>
              <a:rPr sz="1450" b="1" i="0">
                <a:solidFill>
                  <a:srgbClr val="DC2626"/>
                </a:solidFill>
                <a:latin typeface="Segoe UI"/>
              </a:rPr>
              <a:t>•  </a:t>
            </a:r>
            <a:r>
              <a:rPr sz="1450" b="0" i="0">
                <a:solidFill>
                  <a:srgbClr val="475569"/>
                </a:solidFill>
                <a:latin typeface="Segoe UI"/>
              </a:rPr>
              <a:t>Free LLM tiers: Claude credit ran out, Gemini 20 requests/day → provider-agnostic, gpt-oss-20b on NIM</a:t>
            </a:r>
          </a:p>
          <a:p>
            <a:pPr algn="l">
              <a:spcAft>
                <a:spcPts val="600"/>
              </a:spcAft>
            </a:pPr>
            <a:r>
              <a:rPr sz="1450" b="1" i="0">
                <a:solidFill>
                  <a:srgbClr val="DC2626"/>
                </a:solidFill>
                <a:latin typeface="Segoe UI"/>
              </a:rPr>
              <a:t>•  </a:t>
            </a:r>
            <a:r>
              <a:rPr sz="1450" b="0" i="0">
                <a:solidFill>
                  <a:srgbClr val="475569"/>
                </a:solidFill>
                <a:latin typeface="Segoe UI"/>
              </a:rPr>
              <a:t>Small-model quirks: broken JSON, invented IDs, extra general knowledge</a:t>
            </a:r>
          </a:p>
          <a:p>
            <a:pPr algn="l">
              <a:spcAft>
                <a:spcPts val="600"/>
              </a:spcAft>
            </a:pPr>
            <a:r>
              <a:rPr sz="1450" b="1" i="0">
                <a:solidFill>
                  <a:srgbClr val="DC2626"/>
                </a:solidFill>
                <a:latin typeface="Segoe UI"/>
              </a:rPr>
              <a:t>•  </a:t>
            </a:r>
            <a:r>
              <a:rPr sz="1450" b="0" i="0">
                <a:solidFill>
                  <a:srgbClr val="475569"/>
                </a:solidFill>
                <a:latin typeface="Segoe UI"/>
              </a:rPr>
              <a:t>Partial input: analysts know 3–5 of the 24 metrics</a:t>
            </a:r>
          </a:p>
          <a:p>
            <a:pPr algn="l">
              <a:spcAft>
                <a:spcPts val="600"/>
              </a:spcAft>
            </a:pPr>
            <a:r>
              <a:rPr sz="1450" b="1" i="0">
                <a:solidFill>
                  <a:srgbClr val="DC2626"/>
                </a:solidFill>
                <a:latin typeface="Segoe UI"/>
              </a:rPr>
              <a:t>•  </a:t>
            </a:r>
            <a:r>
              <a:rPr sz="1450" b="0" i="0">
                <a:solidFill>
                  <a:srgbClr val="475569"/>
                </a:solidFill>
                <a:latin typeface="Segoe UI"/>
              </a:rPr>
              <a:t>Latency: 1–3 minutes per investigation → now about 1 minute with parallel agents</a:t>
            </a:r>
          </a:p>
        </p:txBody>
      </p:sp>
      <p:sp>
        <p:nvSpPr>
          <p:cNvPr id="10" name="Rounded Rectangle 9"/>
          <p:cNvSpPr/>
          <p:nvPr/>
        </p:nvSpPr>
        <p:spPr>
          <a:xfrm>
            <a:off x="6278728" y="1600200"/>
            <a:ext cx="5364328" cy="3749039"/>
          </a:xfrm>
          <a:prstGeom prst="roundRect">
            <a:avLst>
              <a:gd name="adj" fmla="val 7000"/>
            </a:avLst>
          </a:prstGeom>
          <a:solidFill>
            <a:srgbClr val="ECFDF5"/>
          </a:solidFill>
          <a:ln w="15875">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43320" y="1783080"/>
            <a:ext cx="54864" cy="32918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6" y="1728216"/>
            <a:ext cx="4952848" cy="3566159"/>
          </a:xfrm>
          <a:prstGeom prst="rect">
            <a:avLst/>
          </a:prstGeom>
          <a:noFill/>
        </p:spPr>
        <p:txBody>
          <a:bodyPr wrap="square" anchor="t" lIns="45720" rIns="45720" tIns="27432" bIns="27432">
            <a:spAutoFit/>
          </a:bodyPr>
          <a:lstStyle/>
          <a:p>
            <a:pPr algn="l">
              <a:spcAft>
                <a:spcPts val="600"/>
              </a:spcAft>
            </a:pPr>
            <a:r>
              <a:rPr sz="2100" b="1" i="0">
                <a:solidFill>
                  <a:srgbClr val="0F172A"/>
                </a:solidFill>
                <a:latin typeface="Segoe UI"/>
              </a:rPr>
              <a:t>Learnings</a:t>
            </a:r>
          </a:p>
          <a:p>
            <a:pPr algn="l">
              <a:spcAft>
                <a:spcPts val="600"/>
              </a:spcAft>
            </a:pPr>
            <a:r>
              <a:rPr sz="1450" b="1" i="0">
                <a:solidFill>
                  <a:srgbClr val="059669"/>
                </a:solidFill>
                <a:latin typeface="Segoe UI"/>
              </a:rPr>
              <a:t>•  </a:t>
            </a:r>
            <a:r>
              <a:rPr sz="1450" b="0" i="0">
                <a:solidFill>
                  <a:srgbClr val="475569"/>
                </a:solidFill>
                <a:latin typeface="Segoe UI"/>
              </a:rPr>
              <a:t>Wrap the LLM in deterministic checks: guardrails, rule caps and exact checks catch what it misses</a:t>
            </a:r>
          </a:p>
          <a:p>
            <a:pPr algn="l">
              <a:spcAft>
                <a:spcPts val="600"/>
              </a:spcAft>
            </a:pPr>
            <a:r>
              <a:rPr sz="1450" b="1" i="0">
                <a:solidFill>
                  <a:srgbClr val="059669"/>
                </a:solidFill>
                <a:latin typeface="Segoe UI"/>
              </a:rPr>
              <a:t>•  </a:t>
            </a:r>
            <a:r>
              <a:rPr sz="1450" b="0" i="0">
                <a:solidFill>
                  <a:srgbClr val="475569"/>
                </a:solidFill>
                <a:latin typeface="Segoe UI"/>
              </a:rPr>
              <a:t>Measure early: evaluation exposed four real defects</a:t>
            </a:r>
          </a:p>
          <a:p>
            <a:pPr algn="l">
              <a:spcAft>
                <a:spcPts val="600"/>
              </a:spcAft>
            </a:pPr>
            <a:r>
              <a:rPr sz="1450" b="1" i="0">
                <a:solidFill>
                  <a:srgbClr val="059669"/>
                </a:solidFill>
                <a:latin typeface="Segoe UI"/>
              </a:rPr>
              <a:t>•  </a:t>
            </a:r>
            <a:r>
              <a:rPr sz="1450" b="0" i="0">
                <a:solidFill>
                  <a:srgbClr val="475569"/>
                </a:solidFill>
                <a:latin typeface="Segoe UI"/>
              </a:rPr>
              <a:t>Route, don't pipeline; run independent agents in parallel</a:t>
            </a:r>
          </a:p>
          <a:p>
            <a:pPr algn="l">
              <a:spcAft>
                <a:spcPts val="600"/>
              </a:spcAft>
            </a:pPr>
            <a:r>
              <a:rPr sz="1450" b="1" i="0">
                <a:solidFill>
                  <a:srgbClr val="059669"/>
                </a:solidFill>
                <a:latin typeface="Segoe UI"/>
              </a:rPr>
              <a:t>•  </a:t>
            </a:r>
            <a:r>
              <a:rPr sz="1450" b="0" i="0">
                <a:solidFill>
                  <a:srgbClr val="475569"/>
                </a:solidFill>
                <a:latin typeface="Segoe UI"/>
              </a:rPr>
              <a:t>Filters beat clever ranking for precise retrieval</a:t>
            </a:r>
          </a:p>
          <a:p>
            <a:pPr algn="l">
              <a:spcAft>
                <a:spcPts val="600"/>
              </a:spcAft>
            </a:pPr>
            <a:r>
              <a:rPr sz="1450" b="1" i="0">
                <a:solidFill>
                  <a:srgbClr val="059669"/>
                </a:solidFill>
                <a:latin typeface="Segoe UI"/>
              </a:rPr>
              <a:t>•  </a:t>
            </a:r>
            <a:r>
              <a:rPr sz="1450" b="0" i="0">
                <a:solidFill>
                  <a:srgbClr val="475569"/>
                </a:solidFill>
                <a:latin typeface="Segoe UI"/>
              </a:rPr>
              <a:t>Show the work: a live agent trace builds trust</a:t>
            </a:r>
          </a:p>
          <a:p>
            <a:pPr algn="l">
              <a:spcAft>
                <a:spcPts val="600"/>
              </a:spcAft>
            </a:pPr>
            <a:r>
              <a:rPr sz="1450" b="1" i="0">
                <a:solidFill>
                  <a:srgbClr val="059669"/>
                </a:solidFill>
                <a:latin typeface="Segoe UI"/>
              </a:rPr>
              <a:t>•  </a:t>
            </a:r>
            <a:r>
              <a:rPr sz="1450" b="0" i="0">
                <a:solidFill>
                  <a:srgbClr val="475569"/>
                </a:solidFill>
                <a:latin typeface="Segoe UI"/>
              </a:rPr>
              <a:t>Keep the LLM a configuration choice, not a dependency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84048"/>
            <a:ext cx="685800" cy="640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75488"/>
            <a:ext cx="9144000" cy="320040"/>
          </a:xfrm>
          <a:prstGeom prst="rect">
            <a:avLst/>
          </a:prstGeom>
          <a:noFill/>
        </p:spPr>
        <p:txBody>
          <a:bodyPr wrap="square" anchor="t" lIns="45720" rIns="45720" tIns="27432" bIns="27432">
            <a:spAutoFit/>
          </a:bodyPr>
          <a:lstStyle/>
          <a:p>
            <a:pPr algn="l">
              <a:spcAft>
                <a:spcPts val="600"/>
              </a:spcAft>
            </a:pPr>
            <a:r>
              <a:rPr sz="1150" b="1" i="0">
                <a:solidFill>
                  <a:srgbClr val="2563EB"/>
                </a:solidFill>
                <a:latin typeface="Segoe UI"/>
              </a:rPr>
              <a:t>NEXT STEPS</a:t>
            </a:r>
          </a:p>
        </p:txBody>
      </p:sp>
      <p:sp>
        <p:nvSpPr>
          <p:cNvPr id="4" name="TextBox 3"/>
          <p:cNvSpPr txBox="1"/>
          <p:nvPr/>
        </p:nvSpPr>
        <p:spPr>
          <a:xfrm>
            <a:off x="548640" y="731520"/>
            <a:ext cx="11094415" cy="731520"/>
          </a:xfrm>
          <a:prstGeom prst="rect">
            <a:avLst/>
          </a:prstGeom>
          <a:noFill/>
        </p:spPr>
        <p:txBody>
          <a:bodyPr wrap="square" anchor="t" lIns="45720" rIns="45720" tIns="27432" bIns="27432">
            <a:spAutoFit/>
          </a:bodyPr>
          <a:lstStyle/>
          <a:p>
            <a:pPr algn="l">
              <a:spcAft>
                <a:spcPts val="600"/>
              </a:spcAft>
            </a:pPr>
            <a:r>
              <a:rPr sz="3000" b="1" i="0">
                <a:solidFill>
                  <a:srgbClr val="0F172A"/>
                </a:solidFill>
                <a:latin typeface="Segoe UI"/>
              </a:rPr>
              <a:t>Future work</a:t>
            </a:r>
          </a:p>
        </p:txBody>
      </p:sp>
      <p:sp>
        <p:nvSpPr>
          <p:cNvPr id="5" name="TextBox 4"/>
          <p:cNvSpPr txBox="1"/>
          <p:nvPr/>
        </p:nvSpPr>
        <p:spPr>
          <a:xfrm>
            <a:off x="548640" y="6446520"/>
            <a:ext cx="8229600" cy="274320"/>
          </a:xfrm>
          <a:prstGeom prst="rect">
            <a:avLst/>
          </a:prstGeom>
          <a:noFill/>
        </p:spPr>
        <p:txBody>
          <a:bodyPr wrap="square" anchor="t" lIns="45720" rIns="45720" tIns="27432" bIns="27432">
            <a:spAutoFit/>
          </a:bodyPr>
          <a:lstStyle/>
          <a:p>
            <a:pPr algn="l">
              <a:spcAft>
                <a:spcPts val="600"/>
              </a:spcAft>
            </a:pPr>
            <a:r>
              <a:rPr sz="1000" b="0" i="0">
                <a:solidFill>
                  <a:srgbClr val="475569"/>
                </a:solidFill>
                <a:latin typeface="Segoe UI"/>
              </a:rPr>
              <a:t>AI-Powered Cybersecurity Incident Response Assistant  ·  Capstone Project 8</a:t>
            </a:r>
          </a:p>
        </p:txBody>
      </p:sp>
      <p:sp>
        <p:nvSpPr>
          <p:cNvPr id="6" name="TextBox 5"/>
          <p:cNvSpPr txBox="1"/>
          <p:nvPr/>
        </p:nvSpPr>
        <p:spPr>
          <a:xfrm>
            <a:off x="10728655" y="6446520"/>
            <a:ext cx="914400" cy="274320"/>
          </a:xfrm>
          <a:prstGeom prst="rect">
            <a:avLst/>
          </a:prstGeom>
          <a:noFill/>
        </p:spPr>
        <p:txBody>
          <a:bodyPr wrap="square" anchor="t" lIns="45720" rIns="45720" tIns="27432" bIns="27432">
            <a:spAutoFit/>
          </a:bodyPr>
          <a:lstStyle/>
          <a:p>
            <a:pPr algn="r">
              <a:spcAft>
                <a:spcPts val="600"/>
              </a:spcAft>
            </a:pPr>
            <a:r>
              <a:rPr sz="1000" b="0" i="0">
                <a:solidFill>
                  <a:srgbClr val="475569"/>
                </a:solidFill>
                <a:latin typeface="Segoe UI"/>
              </a:rPr>
              <a:t>14</a:t>
            </a:r>
          </a:p>
        </p:txBody>
      </p:sp>
      <p:sp>
        <p:nvSpPr>
          <p:cNvPr id="7" name="TextBox 6"/>
          <p:cNvSpPr txBox="1"/>
          <p:nvPr/>
        </p:nvSpPr>
        <p:spPr>
          <a:xfrm>
            <a:off x="548640" y="1600200"/>
            <a:ext cx="6766560" cy="4480560"/>
          </a:xfrm>
          <a:prstGeom prst="rect">
            <a:avLst/>
          </a:prstGeom>
          <a:noFill/>
        </p:spPr>
        <p:txBody>
          <a:bodyPr wrap="square" anchor="t" lIns="45720" rIns="45720" tIns="27432" bIns="27432">
            <a:spAutoFit/>
          </a:bodyPr>
          <a:lstStyle/>
          <a:p>
            <a:pPr algn="l">
              <a:spcAft>
                <a:spcPts val="1400"/>
              </a:spcAft>
            </a:pPr>
            <a:r>
              <a:rPr sz="1700" b="1" i="0">
                <a:solidFill>
                  <a:srgbClr val="2563EB"/>
                </a:solidFill>
                <a:latin typeface="Segoe UI"/>
              </a:rPr>
              <a:t>•  </a:t>
            </a:r>
            <a:r>
              <a:rPr sz="1700" b="0" i="0">
                <a:solidFill>
                  <a:srgbClr val="0F172A"/>
                </a:solidFill>
                <a:latin typeface="Segoe UI"/>
              </a:rPr>
              <a:t>Use the </a:t>
            </a:r>
            <a:r>
              <a:rPr sz="1700" b="1" i="0">
                <a:solidFill>
                  <a:srgbClr val="0F172A"/>
                </a:solidFill>
                <a:latin typeface="Segoe UI"/>
              </a:rPr>
              <a:t>GeneratedLabelledFlows</a:t>
            </a:r>
            <a:r>
              <a:rPr sz="1700" b="0" i="0">
                <a:solidFill>
                  <a:srgbClr val="0F172A"/>
                </a:solidFill>
                <a:latin typeface="Segoe UI"/>
              </a:rPr>
              <a:t> release: IP, protocol and timestamp filters; multi-flow incidents</a:t>
            </a:r>
          </a:p>
          <a:p>
            <a:pPr algn="l">
              <a:spcAft>
                <a:spcPts val="1400"/>
              </a:spcAft>
            </a:pPr>
            <a:r>
              <a:rPr sz="1700" b="1" i="0">
                <a:solidFill>
                  <a:srgbClr val="2563EB"/>
                </a:solidFill>
                <a:latin typeface="Segoe UI"/>
              </a:rPr>
              <a:t>•  </a:t>
            </a:r>
            <a:r>
              <a:rPr sz="1700" b="1" i="0">
                <a:solidFill>
                  <a:srgbClr val="0F172A"/>
                </a:solidFill>
                <a:latin typeface="Segoe UI"/>
              </a:rPr>
              <a:t>Stronger evaluator model</a:t>
            </a:r>
            <a:r>
              <a:rPr sz="1700" b="0" i="0">
                <a:solidFill>
                  <a:srgbClr val="0F172A"/>
                </a:solidFill>
                <a:latin typeface="Segoe UI"/>
              </a:rPr>
              <a:t> and a larger labelled case set</a:t>
            </a:r>
          </a:p>
          <a:p>
            <a:pPr algn="l">
              <a:spcAft>
                <a:spcPts val="1400"/>
              </a:spcAft>
            </a:pPr>
            <a:r>
              <a:rPr sz="1700" b="1" i="0">
                <a:solidFill>
                  <a:srgbClr val="2563EB"/>
                </a:solidFill>
                <a:latin typeface="Segoe UI"/>
              </a:rPr>
              <a:t>•  </a:t>
            </a:r>
            <a:r>
              <a:rPr sz="1700" b="1" i="0">
                <a:solidFill>
                  <a:srgbClr val="0F172A"/>
                </a:solidFill>
                <a:latin typeface="Segoe UI"/>
              </a:rPr>
              <a:t>Docker / docker-compose</a:t>
            </a:r>
            <a:r>
              <a:rPr sz="1700" b="0" i="0">
                <a:solidFill>
                  <a:srgbClr val="0F172A"/>
                </a:solidFill>
                <a:latin typeface="Segoe UI"/>
              </a:rPr>
              <a:t> for one-command deployment</a:t>
            </a:r>
          </a:p>
          <a:p>
            <a:pPr algn="l">
              <a:spcAft>
                <a:spcPts val="1400"/>
              </a:spcAft>
            </a:pPr>
            <a:r>
              <a:rPr sz="1700" b="1" i="0">
                <a:solidFill>
                  <a:srgbClr val="2563EB"/>
                </a:solidFill>
                <a:latin typeface="Segoe UI"/>
              </a:rPr>
              <a:t>•  </a:t>
            </a:r>
            <a:r>
              <a:rPr sz="1700" b="1" i="0">
                <a:solidFill>
                  <a:srgbClr val="0F172A"/>
                </a:solidFill>
                <a:latin typeface="Segoe UI"/>
              </a:rPr>
              <a:t>CI pipeline</a:t>
            </a:r>
            <a:r>
              <a:rPr sz="1700" b="0" i="0">
                <a:solidFill>
                  <a:srgbClr val="0F172A"/>
                </a:solidFill>
                <a:latin typeface="Segoe UI"/>
              </a:rPr>
              <a:t> running the 413 tests on every push</a:t>
            </a:r>
          </a:p>
          <a:p>
            <a:pPr algn="l">
              <a:spcAft>
                <a:spcPts val="1400"/>
              </a:spcAft>
            </a:pPr>
            <a:r>
              <a:rPr sz="1700" b="1" i="0">
                <a:solidFill>
                  <a:srgbClr val="2563EB"/>
                </a:solidFill>
                <a:latin typeface="Segoe UI"/>
              </a:rPr>
              <a:t>•  </a:t>
            </a:r>
            <a:r>
              <a:rPr sz="1700" b="0" i="0">
                <a:solidFill>
                  <a:srgbClr val="0F172A"/>
                </a:solidFill>
                <a:latin typeface="Segoe UI"/>
              </a:rPr>
              <a:t>Stay signed in across a browser refresh; </a:t>
            </a:r>
            <a:r>
              <a:rPr sz="1700" b="1" i="0">
                <a:solidFill>
                  <a:srgbClr val="0F172A"/>
                </a:solidFill>
                <a:latin typeface="Segoe UI"/>
              </a:rPr>
              <a:t>HTTPS</a:t>
            </a:r>
            <a:r>
              <a:rPr sz="1700" b="0" i="0">
                <a:solidFill>
                  <a:srgbClr val="0F172A"/>
                </a:solidFill>
                <a:latin typeface="Segoe UI"/>
              </a:rPr>
              <a:t> for non-local use</a:t>
            </a:r>
          </a:p>
          <a:p>
            <a:pPr algn="l">
              <a:spcAft>
                <a:spcPts val="1400"/>
              </a:spcAft>
            </a:pPr>
            <a:r>
              <a:rPr sz="1700" b="1" i="0">
                <a:solidFill>
                  <a:srgbClr val="2563EB"/>
                </a:solidFill>
                <a:latin typeface="Segoe UI"/>
              </a:rPr>
              <a:t>•  </a:t>
            </a:r>
            <a:r>
              <a:rPr sz="1700" b="0" i="0">
                <a:solidFill>
                  <a:srgbClr val="0F172A"/>
                </a:solidFill>
                <a:latin typeface="Segoe UI"/>
              </a:rPr>
              <a:t>Cache repeated tool lookups to cut LLM calls further</a:t>
            </a:r>
          </a:p>
        </p:txBody>
      </p:sp>
      <p:sp>
        <p:nvSpPr>
          <p:cNvPr id="8" name="Rounded Rectangle 7"/>
          <p:cNvSpPr/>
          <p:nvPr/>
        </p:nvSpPr>
        <p:spPr>
          <a:xfrm>
            <a:off x="7680960" y="1600200"/>
            <a:ext cx="3959352" cy="2194560"/>
          </a:xfrm>
          <a:prstGeom prst="roundRect">
            <a:avLst>
              <a:gd name="adj" fmla="val 7000"/>
            </a:avLst>
          </a:prstGeom>
          <a:solidFill>
            <a:srgbClr val="EFF6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45552" y="1783080"/>
            <a:ext cx="54864" cy="32918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73568" y="1728216"/>
            <a:ext cx="3547872" cy="2011680"/>
          </a:xfrm>
          <a:prstGeom prst="rect">
            <a:avLst/>
          </a:prstGeom>
          <a:noFill/>
        </p:spPr>
        <p:txBody>
          <a:bodyPr wrap="square" anchor="t" lIns="45720" rIns="45720" tIns="27432" bIns="27432">
            <a:spAutoFit/>
          </a:bodyPr>
          <a:lstStyle/>
          <a:p>
            <a:pPr algn="l">
              <a:spcAft>
                <a:spcPts val="600"/>
              </a:spcAft>
            </a:pPr>
            <a:r>
              <a:rPr sz="1900" b="1" i="0">
                <a:solidFill>
                  <a:srgbClr val="0F172A"/>
                </a:solidFill>
                <a:latin typeface="Segoe UI"/>
              </a:rPr>
              <a:t>Repository</a:t>
            </a:r>
          </a:p>
          <a:p>
            <a:pPr algn="l">
              <a:spcAft>
                <a:spcPts val="300"/>
              </a:spcAft>
            </a:pPr>
            <a:r>
              <a:rPr sz="1350" b="0" i="0">
                <a:solidFill>
                  <a:srgbClr val="475569"/>
                </a:solidFill>
                <a:latin typeface="Segoe UI"/>
              </a:rPr>
              <a:t>github.com/nlnkrthk/Cybersecurity-assistant</a:t>
            </a:r>
          </a:p>
          <a:p>
            <a:pPr algn="l">
              <a:spcAft>
                <a:spcPts val="300"/>
              </a:spcAft>
            </a:pPr>
          </a:p>
          <a:p>
            <a:pPr algn="l">
              <a:spcAft>
                <a:spcPts val="300"/>
              </a:spcAft>
            </a:pPr>
            <a:r>
              <a:rPr sz="1350" b="0" i="0">
                <a:solidFill>
                  <a:srgbClr val="475569"/>
                </a:solidFill>
                <a:latin typeface="Segoe UI"/>
              </a:rPr>
              <a:t>README · Architecture diagram</a:t>
            </a:r>
          </a:p>
          <a:p>
            <a:pPr algn="l">
              <a:spcAft>
                <a:spcPts val="300"/>
              </a:spcAft>
            </a:pPr>
            <a:r>
              <a:rPr sz="1350" b="0" i="0">
                <a:solidFill>
                  <a:srgbClr val="475569"/>
                </a:solidFill>
                <a:latin typeface="Segoe UI"/>
              </a:rPr>
              <a:t>Design document · API documentation</a:t>
            </a:r>
          </a:p>
          <a:p>
            <a:pPr algn="l">
              <a:spcAft>
                <a:spcPts val="300"/>
              </a:spcAft>
            </a:pPr>
            <a:r>
              <a:rPr sz="1350" b="0" i="0">
                <a:solidFill>
                  <a:srgbClr val="475569"/>
                </a:solidFill>
                <a:latin typeface="Segoe UI"/>
              </a:rPr>
              <a:t>Dataset details · Evaluation report</a:t>
            </a:r>
          </a:p>
          <a:p>
            <a:pPr algn="l">
              <a:spcAft>
                <a:spcPts val="300"/>
              </a:spcAft>
            </a:pPr>
            <a:r>
              <a:rPr sz="1350" b="0" i="0">
                <a:solidFill>
                  <a:srgbClr val="475569"/>
                </a:solidFill>
                <a:latin typeface="Segoe UI"/>
              </a:rPr>
              <a:t>Sample data · 413 tests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194560"/>
            <a:ext cx="12191695" cy="1097280"/>
          </a:xfrm>
          <a:prstGeom prst="rect">
            <a:avLst/>
          </a:prstGeom>
          <a:noFill/>
        </p:spPr>
        <p:txBody>
          <a:bodyPr wrap="square" anchor="t" lIns="45720" rIns="45720" tIns="27432" bIns="27432">
            <a:spAutoFit/>
          </a:bodyPr>
          <a:lstStyle/>
          <a:p>
            <a:pPr algn="ctr">
              <a:spcAft>
                <a:spcPts val="600"/>
              </a:spcAft>
            </a:pPr>
            <a:r>
              <a:rPr sz="5400" b="1" i="0">
                <a:solidFill>
                  <a:srgbClr val="FFFFFF"/>
                </a:solidFill>
                <a:latin typeface="Segoe UI"/>
              </a:rPr>
              <a:t>Thank you</a:t>
            </a:r>
          </a:p>
        </p:txBody>
      </p:sp>
      <p:sp>
        <p:nvSpPr>
          <p:cNvPr id="4" name="TextBox 3"/>
          <p:cNvSpPr txBox="1"/>
          <p:nvPr/>
        </p:nvSpPr>
        <p:spPr>
          <a:xfrm>
            <a:off x="0" y="3383280"/>
            <a:ext cx="12191695" cy="640080"/>
          </a:xfrm>
          <a:prstGeom prst="rect">
            <a:avLst/>
          </a:prstGeom>
          <a:noFill/>
        </p:spPr>
        <p:txBody>
          <a:bodyPr wrap="square" anchor="t" lIns="45720" rIns="45720" tIns="27432" bIns="27432">
            <a:spAutoFit/>
          </a:bodyPr>
          <a:lstStyle/>
          <a:p>
            <a:pPr algn="ctr">
              <a:spcAft>
                <a:spcPts val="600"/>
              </a:spcAft>
            </a:pPr>
            <a:r>
              <a:rPr sz="2600" b="0" i="0">
                <a:solidFill>
                  <a:srgbClr val="93C5FD"/>
                </a:solidFill>
                <a:latin typeface="Segoe UI"/>
              </a:rPr>
              <a:t>Questions?</a:t>
            </a:r>
          </a:p>
        </p:txBody>
      </p:sp>
      <p:sp>
        <p:nvSpPr>
          <p:cNvPr id="5" name="TextBox 4"/>
          <p:cNvSpPr txBox="1"/>
          <p:nvPr/>
        </p:nvSpPr>
        <p:spPr>
          <a:xfrm>
            <a:off x="0" y="4572000"/>
            <a:ext cx="12191695" cy="457200"/>
          </a:xfrm>
          <a:prstGeom prst="rect">
            <a:avLst/>
          </a:prstGeom>
          <a:noFill/>
        </p:spPr>
        <p:txBody>
          <a:bodyPr wrap="square" anchor="t" lIns="45720" rIns="45720" tIns="27432" bIns="27432">
            <a:spAutoFit/>
          </a:bodyPr>
          <a:lstStyle/>
          <a:p>
            <a:pPr algn="ctr">
              <a:spcAft>
                <a:spcPts val="600"/>
              </a:spcAft>
            </a:pPr>
            <a:r>
              <a:rPr sz="1600" b="0" i="0">
                <a:solidFill>
                  <a:srgbClr val="CBD5E1"/>
                </a:solidFill>
                <a:latin typeface="Segoe UI"/>
              </a:rPr>
              <a:t>github.com/nlnkrthk/Cybersecurity-assistant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